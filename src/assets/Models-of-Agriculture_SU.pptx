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418" y="2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1E684-97D3-48ED-AED5-3D5027015F04}" type="datetimeFigureOut">
              <a:rPr lang="en-PH" smtClean="0"/>
              <a:t>19/11/2025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A107FF-F5FC-4C61-B5CB-C9544AD3370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297DA-41E0-4586-B58C-CF31DAE0EC4D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D13D3-AB3F-49BC-8B4B-E0C659ED952B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C32D7A-7449-4A70-87A2-FFF8054F1AC7}" type="datetime1">
              <a:rPr lang="en-US" smtClean="0"/>
              <a:t>11/19/2025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1E55B-FF32-4860-B4AD-EB5C61D03DEC}" type="datetime1">
              <a:rPr lang="en-US" smtClean="0"/>
              <a:t>11/19/2025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0AA29-6E5A-4394-BA90-86E532823041}" type="datetime1">
              <a:rPr lang="en-US" smtClean="0"/>
              <a:t>11/19/2025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136639"/>
            <a:ext cx="12191999" cy="72135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0179" y="72771"/>
            <a:ext cx="11851640" cy="12725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5915" y="2160841"/>
            <a:ext cx="5027295" cy="4142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Adapted from: Monshyne D. Cabual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5F39E-40E5-401D-B327-9410BE648658}" type="datetime1">
              <a:rPr lang="en-US" smtClean="0"/>
              <a:t>11/19/2025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5432" rIns="0" bIns="0" rtlCol="0">
            <a:spAutoFit/>
          </a:bodyPr>
          <a:lstStyle/>
          <a:p>
            <a:pPr marL="2078355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latin typeface="Calibri"/>
                <a:cs typeface="Calibri"/>
              </a:rPr>
              <a:t>MODELS</a:t>
            </a:r>
            <a:r>
              <a:rPr sz="5400" spc="15" dirty="0">
                <a:latin typeface="Calibri"/>
                <a:cs typeface="Calibri"/>
              </a:rPr>
              <a:t> </a:t>
            </a:r>
            <a:r>
              <a:rPr sz="5400" dirty="0">
                <a:latin typeface="Calibri"/>
                <a:cs typeface="Calibri"/>
              </a:rPr>
              <a:t>OF </a:t>
            </a:r>
            <a:r>
              <a:rPr sz="5400" spc="-40" dirty="0">
                <a:latin typeface="Calibri"/>
                <a:cs typeface="Calibri"/>
              </a:rPr>
              <a:t>AGRICULTURE</a:t>
            </a:r>
            <a:endParaRPr sz="5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2300" y="1442719"/>
            <a:ext cx="5298440" cy="407162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23940" y="1442719"/>
            <a:ext cx="5300979" cy="407162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58910-832E-4AC2-A4AE-DEC43AD3573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0799" y="1236980"/>
            <a:ext cx="9550400" cy="52120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3611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latin typeface="Calibri"/>
                <a:cs typeface="Calibri"/>
              </a:rPr>
              <a:t>Different</a:t>
            </a:r>
            <a:r>
              <a:rPr sz="4800" spc="-235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Farming</a:t>
            </a:r>
            <a:r>
              <a:rPr sz="4800" spc="-215" dirty="0">
                <a:latin typeface="Calibri"/>
                <a:cs typeface="Calibri"/>
              </a:rPr>
              <a:t> </a:t>
            </a:r>
            <a:r>
              <a:rPr sz="4800" spc="-10" dirty="0">
                <a:latin typeface="Calibri"/>
                <a:cs typeface="Calibri"/>
              </a:rPr>
              <a:t>Systems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AF07B-E6A2-AC79-AE5B-06946A90CC1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8039" y="1234439"/>
            <a:ext cx="7993379" cy="53289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7807" rIns="0" bIns="0" rtlCol="0">
            <a:spAutoFit/>
          </a:bodyPr>
          <a:lstStyle/>
          <a:p>
            <a:pPr marL="12446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/>
                <a:cs typeface="Calibri"/>
              </a:rPr>
              <a:t>TRADITIONAL</a:t>
            </a:r>
            <a:r>
              <a:rPr sz="3600" spc="-114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FARMING</a:t>
            </a:r>
            <a:r>
              <a:rPr sz="3600" spc="-14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SYSTEM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B3DAF6-087F-C900-9B3F-015FC4313BC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00" y="248920"/>
            <a:ext cx="5892800" cy="7086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33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05"/>
              </a:spcBef>
            </a:pPr>
            <a:r>
              <a:rPr sz="4000" dirty="0">
                <a:latin typeface="Calibri"/>
                <a:cs typeface="Calibri"/>
              </a:rPr>
              <a:t>MODELS</a:t>
            </a:r>
            <a:r>
              <a:rPr sz="4000" spc="-2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OF</a:t>
            </a:r>
            <a:r>
              <a:rPr sz="4000" spc="-30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AGRICULTURE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0190" y="1117853"/>
            <a:ext cx="11693525" cy="1641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primary</a:t>
            </a:r>
            <a:r>
              <a:rPr sz="3000" b="1" spc="1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goal</a:t>
            </a:r>
            <a:r>
              <a:rPr sz="3000" b="1" spc="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of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agriculture</a:t>
            </a:r>
            <a:r>
              <a:rPr sz="3000" b="1" spc="-1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=</a:t>
            </a:r>
            <a:r>
              <a:rPr sz="3000" b="1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manage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photosynthesis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food, </a:t>
            </a:r>
            <a:r>
              <a:rPr sz="3000" dirty="0">
                <a:latin typeface="Calibri"/>
                <a:cs typeface="Calibri"/>
              </a:rPr>
              <a:t>fiber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other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plant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human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use.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3000" dirty="0">
                <a:latin typeface="Calibri"/>
                <a:cs typeface="Calibri"/>
              </a:rPr>
              <a:t>This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can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done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through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two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general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models: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industrial</a:t>
            </a:r>
            <a:r>
              <a:rPr sz="3000" b="1" spc="-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sustainable</a:t>
            </a:r>
            <a:r>
              <a:rPr sz="3000" spc="-10" dirty="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2720" y="3200400"/>
            <a:ext cx="7658100" cy="6451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65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30"/>
              </a:spcBef>
            </a:pPr>
            <a:r>
              <a:rPr sz="3600" b="1" dirty="0">
                <a:latin typeface="Calibri"/>
                <a:cs typeface="Calibri"/>
              </a:rPr>
              <a:t>A.</a:t>
            </a:r>
            <a:r>
              <a:rPr sz="3600" b="1" spc="-10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Industrial</a:t>
            </a:r>
            <a:r>
              <a:rPr sz="3600" b="1" spc="-11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(Conventional)</a:t>
            </a:r>
            <a:r>
              <a:rPr sz="3600" b="1" spc="-7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0190" y="3931602"/>
            <a:ext cx="7242809" cy="2312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Agriculture</a:t>
            </a:r>
            <a:endParaRPr sz="3000">
              <a:latin typeface="Calibri"/>
              <a:cs typeface="Calibri"/>
            </a:endParaRPr>
          </a:p>
          <a:p>
            <a:pPr marL="12700" marR="5080" indent="914400" algn="just">
              <a:lnSpc>
                <a:spcPct val="100000"/>
              </a:lnSpc>
              <a:spcBef>
                <a:spcPts val="5"/>
              </a:spcBef>
            </a:pPr>
            <a:r>
              <a:rPr sz="3000" dirty="0">
                <a:latin typeface="Calibri"/>
                <a:cs typeface="Calibri"/>
              </a:rPr>
              <a:t>is an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industrial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enterprise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which </a:t>
            </a:r>
            <a:r>
              <a:rPr sz="3000" spc="-10" dirty="0">
                <a:latin typeface="Calibri"/>
                <a:cs typeface="Calibri"/>
              </a:rPr>
              <a:t>farms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1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factories</a:t>
            </a:r>
            <a:r>
              <a:rPr sz="3000" spc="1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1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fields</a:t>
            </a:r>
            <a:r>
              <a:rPr sz="3000" spc="1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1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production</a:t>
            </a:r>
            <a:r>
              <a:rPr sz="3000" spc="1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plants.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products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made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(production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units) </a:t>
            </a:r>
            <a:r>
              <a:rPr sz="3000" dirty="0">
                <a:latin typeface="Calibri"/>
                <a:cs typeface="Calibri"/>
              </a:rPr>
              <a:t>may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animals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or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grain.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3700" y="3429000"/>
            <a:ext cx="4008120" cy="286258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DA0129F-9AEB-7909-A7C2-B594FD5A8CC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00" y="137160"/>
            <a:ext cx="7658100" cy="6451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460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4"/>
              </a:spcBef>
            </a:pPr>
            <a:r>
              <a:rPr sz="3600" dirty="0">
                <a:latin typeface="Calibri"/>
                <a:cs typeface="Calibri"/>
              </a:rPr>
              <a:t>A.</a:t>
            </a:r>
            <a:r>
              <a:rPr sz="3600" spc="-1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Industrial</a:t>
            </a:r>
            <a:r>
              <a:rPr sz="3600" spc="-1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(Conventional)</a:t>
            </a:r>
            <a:r>
              <a:rPr sz="3600" spc="-8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940" y="1197228"/>
            <a:ext cx="11696065" cy="5056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61060" algn="just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3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producer</a:t>
            </a:r>
            <a:r>
              <a:rPr sz="3000" spc="3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acquires</a:t>
            </a:r>
            <a:r>
              <a:rPr sz="3000" spc="3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3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uses</a:t>
            </a:r>
            <a:r>
              <a:rPr sz="3000" spc="3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production</a:t>
            </a:r>
            <a:r>
              <a:rPr sz="3000" spc="3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inputs</a:t>
            </a:r>
            <a:r>
              <a:rPr sz="3000" spc="3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3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make</a:t>
            </a:r>
            <a:r>
              <a:rPr sz="3000" spc="37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specific </a:t>
            </a:r>
            <a:r>
              <a:rPr sz="3000" dirty="0">
                <a:latin typeface="Calibri"/>
                <a:cs typeface="Calibri"/>
              </a:rPr>
              <a:t>products.</a:t>
            </a:r>
            <a:r>
              <a:rPr sz="3000" spc="2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Fresh</a:t>
            </a:r>
            <a:r>
              <a:rPr sz="3000" spc="254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inputs</a:t>
            </a:r>
            <a:r>
              <a:rPr sz="3000" spc="26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254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acquired</a:t>
            </a:r>
            <a:r>
              <a:rPr sz="3000" spc="26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2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2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production</a:t>
            </a:r>
            <a:r>
              <a:rPr sz="3000" spc="26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cycle.</a:t>
            </a:r>
            <a:r>
              <a:rPr sz="3000" spc="265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dirty="0">
                <a:latin typeface="Calibri"/>
                <a:cs typeface="Calibri"/>
              </a:rPr>
              <a:t>prevailing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philosophy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one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component</a:t>
            </a:r>
            <a:r>
              <a:rPr sz="3000" spc="1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approach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crop</a:t>
            </a:r>
            <a:r>
              <a:rPr sz="3000" spc="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production, </a:t>
            </a:r>
            <a:r>
              <a:rPr sz="3000" dirty="0">
                <a:latin typeface="Calibri"/>
                <a:cs typeface="Calibri"/>
              </a:rPr>
              <a:t>whereby</a:t>
            </a:r>
            <a:r>
              <a:rPr sz="3000" spc="3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3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producer</a:t>
            </a:r>
            <a:r>
              <a:rPr sz="3000" spc="3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focuses</a:t>
            </a:r>
            <a:r>
              <a:rPr sz="3000" spc="3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3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individual</a:t>
            </a:r>
            <a:r>
              <a:rPr sz="3000" spc="3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farming</a:t>
            </a:r>
            <a:r>
              <a:rPr sz="3000" spc="34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practices</a:t>
            </a:r>
            <a:r>
              <a:rPr sz="3000" spc="350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and </a:t>
            </a:r>
            <a:r>
              <a:rPr sz="3000" dirty="0">
                <a:latin typeface="Calibri"/>
                <a:cs typeface="Calibri"/>
              </a:rPr>
              <a:t>methods.</a:t>
            </a:r>
            <a:r>
              <a:rPr sz="3000" spc="1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</a:t>
            </a:r>
            <a:r>
              <a:rPr sz="3000" spc="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industrial</a:t>
            </a:r>
            <a:r>
              <a:rPr sz="3000" spc="1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plant</a:t>
            </a:r>
            <a:r>
              <a:rPr sz="3000" spc="1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1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designed</a:t>
            </a:r>
            <a:r>
              <a:rPr sz="3000" spc="1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1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1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specific</a:t>
            </a:r>
            <a:r>
              <a:rPr sz="3000" spc="1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production</a:t>
            </a:r>
            <a:r>
              <a:rPr sz="3000" spc="1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practice, </a:t>
            </a:r>
            <a:r>
              <a:rPr sz="3000" dirty="0">
                <a:latin typeface="Calibri"/>
                <a:cs typeface="Calibri"/>
              </a:rPr>
              <a:t>where</a:t>
            </a:r>
            <a:r>
              <a:rPr sz="3000" spc="5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components</a:t>
            </a:r>
            <a:r>
              <a:rPr sz="3000" spc="5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5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assembled</a:t>
            </a:r>
            <a:r>
              <a:rPr sz="3000" spc="5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5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make</a:t>
            </a:r>
            <a:r>
              <a:rPr sz="3000" spc="5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5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product.</a:t>
            </a:r>
            <a:r>
              <a:rPr sz="3000" spc="5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5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58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industrial </a:t>
            </a:r>
            <a:r>
              <a:rPr sz="3000" dirty="0">
                <a:latin typeface="Calibri"/>
                <a:cs typeface="Calibri"/>
              </a:rPr>
              <a:t>model</a:t>
            </a:r>
            <a:r>
              <a:rPr sz="3000" spc="3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3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crop</a:t>
            </a:r>
            <a:r>
              <a:rPr sz="3000" spc="3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production,</a:t>
            </a:r>
            <a:r>
              <a:rPr sz="3000" spc="3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obstacles</a:t>
            </a:r>
            <a:r>
              <a:rPr sz="3000" spc="3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3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production</a:t>
            </a:r>
            <a:r>
              <a:rPr sz="3000" spc="3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are</a:t>
            </a:r>
            <a:r>
              <a:rPr sz="3000" spc="3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removed</a:t>
            </a:r>
            <a:r>
              <a:rPr sz="3000" spc="3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through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innovative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technologies.</a:t>
            </a:r>
            <a:endParaRPr sz="3000">
              <a:latin typeface="Calibri"/>
              <a:cs typeface="Calibri"/>
            </a:endParaRPr>
          </a:p>
          <a:p>
            <a:pPr marL="12700" marR="9525" indent="861060" algn="just">
              <a:lnSpc>
                <a:spcPct val="100000"/>
              </a:lnSpc>
              <a:spcBef>
                <a:spcPts val="3610"/>
              </a:spcBef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1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natural</a:t>
            </a:r>
            <a:r>
              <a:rPr sz="3000" spc="13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environment</a:t>
            </a:r>
            <a:r>
              <a:rPr sz="3000" spc="13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1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modified</a:t>
            </a:r>
            <a:r>
              <a:rPr sz="3000" spc="1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or</a:t>
            </a:r>
            <a:r>
              <a:rPr sz="3000" spc="13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controlled.</a:t>
            </a:r>
            <a:r>
              <a:rPr sz="3000" spc="13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Control</a:t>
            </a:r>
            <a:r>
              <a:rPr sz="3000" spc="125" dirty="0">
                <a:latin typeface="Calibri"/>
                <a:cs typeface="Calibri"/>
              </a:rPr>
              <a:t>  </a:t>
            </a:r>
            <a:r>
              <a:rPr sz="3000" spc="-20" dirty="0">
                <a:latin typeface="Calibri"/>
                <a:cs typeface="Calibri"/>
              </a:rPr>
              <a:t>also </a:t>
            </a:r>
            <a:r>
              <a:rPr sz="3000" spc="-10" dirty="0">
                <a:latin typeface="Calibri"/>
                <a:cs typeface="Calibri"/>
              </a:rPr>
              <a:t>makes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it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potentially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possible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for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steady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progress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occur.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31A645-9F63-31C7-3582-2A0A6800A21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4320" y="721359"/>
            <a:ext cx="7658100" cy="6451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460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14"/>
              </a:spcBef>
            </a:pPr>
            <a:r>
              <a:rPr sz="3600" dirty="0">
                <a:latin typeface="Calibri"/>
                <a:cs typeface="Calibri"/>
              </a:rPr>
              <a:t>A.</a:t>
            </a:r>
            <a:r>
              <a:rPr sz="3600" spc="-10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Industrial</a:t>
            </a:r>
            <a:r>
              <a:rPr sz="3600" spc="-10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(Conventional)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3377" y="1702434"/>
            <a:ext cx="733679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58519" algn="just">
              <a:lnSpc>
                <a:spcPct val="100000"/>
              </a:lnSpc>
              <a:spcBef>
                <a:spcPts val="100"/>
              </a:spcBef>
            </a:pPr>
            <a:r>
              <a:rPr sz="3000" b="1" i="1" dirty="0">
                <a:latin typeface="Calibri"/>
                <a:cs typeface="Calibri"/>
              </a:rPr>
              <a:t>Conventional</a:t>
            </a:r>
            <a:r>
              <a:rPr sz="3000" b="1" i="1" spc="280" dirty="0">
                <a:latin typeface="Calibri"/>
                <a:cs typeface="Calibri"/>
              </a:rPr>
              <a:t> </a:t>
            </a:r>
            <a:r>
              <a:rPr sz="3000" b="1" i="1" dirty="0">
                <a:latin typeface="Calibri"/>
                <a:cs typeface="Calibri"/>
              </a:rPr>
              <a:t>agriculture</a:t>
            </a:r>
            <a:r>
              <a:rPr sz="3000" b="1" i="1" spc="30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29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2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term</a:t>
            </a:r>
            <a:r>
              <a:rPr sz="3000" spc="29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4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predominant</a:t>
            </a:r>
            <a:r>
              <a:rPr sz="3000" spc="4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farming</a:t>
            </a:r>
            <a:r>
              <a:rPr sz="3000" spc="48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practices,</a:t>
            </a:r>
            <a:r>
              <a:rPr sz="3000" spc="459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methods,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7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systems</a:t>
            </a:r>
            <a:r>
              <a:rPr sz="3000" spc="7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6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crop</a:t>
            </a:r>
            <a:r>
              <a:rPr sz="3000" spc="71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production</a:t>
            </a:r>
            <a:r>
              <a:rPr sz="3000" spc="70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adopted</a:t>
            </a:r>
            <a:r>
              <a:rPr sz="3000" spc="72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by </a:t>
            </a:r>
            <a:r>
              <a:rPr sz="3000" dirty="0">
                <a:latin typeface="Calibri"/>
                <a:cs typeface="Calibri"/>
              </a:rPr>
              <a:t>producers</a:t>
            </a:r>
            <a:r>
              <a:rPr sz="3000" spc="51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51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52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region</a:t>
            </a:r>
            <a:r>
              <a:rPr sz="3000" spc="52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50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production.</a:t>
            </a:r>
            <a:r>
              <a:rPr sz="3000" spc="515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In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377" y="3531870"/>
            <a:ext cx="43002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04795" algn="l"/>
              </a:tabLst>
            </a:pPr>
            <a:r>
              <a:rPr sz="3000" spc="-10" dirty="0">
                <a:latin typeface="Calibri"/>
                <a:cs typeface="Calibri"/>
              </a:rPr>
              <a:t>technologically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advanced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30750" y="3531870"/>
            <a:ext cx="162687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5445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Calibri"/>
                <a:cs typeface="Calibri"/>
              </a:rPr>
              <a:t>regions,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000" b="1" spc="-10" dirty="0">
                <a:latin typeface="Calibri"/>
                <a:cs typeface="Calibri"/>
              </a:rPr>
              <a:t>generally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93890" y="3531870"/>
            <a:ext cx="119443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Calibri"/>
                <a:cs typeface="Calibri"/>
              </a:rPr>
              <a:t>these</a:t>
            </a:r>
            <a:endParaRPr sz="30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3000" b="1" spc="-10" dirty="0">
                <a:latin typeface="Calibri"/>
                <a:cs typeface="Calibri"/>
              </a:rPr>
              <a:t>capital-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3377" y="3988752"/>
            <a:ext cx="620458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35175" algn="l"/>
                <a:tab pos="3574415" algn="l"/>
              </a:tabLst>
            </a:pPr>
            <a:r>
              <a:rPr sz="3000" spc="-10" dirty="0">
                <a:latin typeface="Calibri"/>
                <a:cs typeface="Calibri"/>
              </a:rPr>
              <a:t>production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systems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are</a:t>
            </a:r>
            <a:endParaRPr sz="3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849120" algn="l"/>
                <a:tab pos="2845435" algn="l"/>
              </a:tabLst>
            </a:pPr>
            <a:r>
              <a:rPr sz="3000" b="1" spc="-10" dirty="0">
                <a:latin typeface="Calibri"/>
                <a:cs typeface="Calibri"/>
              </a:rPr>
              <a:t>intensive</a:t>
            </a:r>
            <a:r>
              <a:rPr sz="3000" b="1" dirty="0">
                <a:latin typeface="Calibri"/>
                <a:cs typeface="Calibri"/>
              </a:rPr>
              <a:t>	</a:t>
            </a:r>
            <a:r>
              <a:rPr sz="3000" b="1" spc="-25" dirty="0">
                <a:latin typeface="Calibri"/>
                <a:cs typeface="Calibri"/>
              </a:rPr>
              <a:t>and</a:t>
            </a:r>
            <a:r>
              <a:rPr sz="3000" b="1" dirty="0">
                <a:latin typeface="Calibri"/>
                <a:cs typeface="Calibri"/>
              </a:rPr>
              <a:t>	</a:t>
            </a:r>
            <a:r>
              <a:rPr sz="3000" b="1" spc="-10" dirty="0">
                <a:latin typeface="Calibri"/>
                <a:cs typeface="Calibri"/>
              </a:rPr>
              <a:t>chemical-dependent.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31025" y="4446523"/>
            <a:ext cx="7569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latin typeface="Calibri"/>
                <a:cs typeface="Calibri"/>
              </a:rPr>
              <a:t>Crop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53377" y="4903533"/>
            <a:ext cx="7334884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2019935" algn="l"/>
                <a:tab pos="2400935" algn="l"/>
                <a:tab pos="4374515" algn="l"/>
                <a:tab pos="6002655" algn="l"/>
                <a:tab pos="6673850" algn="l"/>
                <a:tab pos="7133590" algn="l"/>
              </a:tabLst>
            </a:pPr>
            <a:r>
              <a:rPr sz="3000" spc="-10" dirty="0">
                <a:latin typeface="Calibri"/>
                <a:cs typeface="Calibri"/>
              </a:rPr>
              <a:t>productivity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is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significantly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increased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but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b="1" spc="-25" dirty="0">
                <a:latin typeface="Calibri"/>
                <a:cs typeface="Calibri"/>
              </a:rPr>
              <a:t>at</a:t>
            </a:r>
            <a:r>
              <a:rPr sz="3000" b="1" dirty="0">
                <a:latin typeface="Calibri"/>
                <a:cs typeface="Calibri"/>
              </a:rPr>
              <a:t>	</a:t>
            </a:r>
            <a:r>
              <a:rPr sz="3000" b="1" spc="-50" dirty="0">
                <a:latin typeface="Calibri"/>
                <a:cs typeface="Calibri"/>
              </a:rPr>
              <a:t>a </a:t>
            </a:r>
            <a:r>
              <a:rPr sz="3000" b="1" dirty="0">
                <a:latin typeface="Calibri"/>
                <a:cs typeface="Calibri"/>
              </a:rPr>
              <a:t>cost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to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environment</a:t>
            </a:r>
            <a:r>
              <a:rPr sz="3000" b="1" spc="-114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and</a:t>
            </a:r>
            <a:r>
              <a:rPr sz="3000" b="1" spc="-4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human</a:t>
            </a:r>
            <a:r>
              <a:rPr sz="3000" b="1" spc="-7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health</a:t>
            </a:r>
            <a:r>
              <a:rPr sz="3000" spc="-10" dirty="0">
                <a:latin typeface="Calibri"/>
                <a:cs typeface="Calibri"/>
              </a:rPr>
              <a:t>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3719" y="2306320"/>
            <a:ext cx="3934460" cy="3022599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E7B1499-1772-5506-4A52-F77E48B175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00" y="137160"/>
            <a:ext cx="11165840" cy="64516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1460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4"/>
              </a:spcBef>
            </a:pPr>
            <a:r>
              <a:rPr sz="3600" spc="-25" dirty="0">
                <a:latin typeface="Calibri"/>
                <a:cs typeface="Calibri"/>
              </a:rPr>
              <a:t>NON-</a:t>
            </a:r>
            <a:r>
              <a:rPr sz="3600" spc="-30" dirty="0">
                <a:latin typeface="Calibri"/>
                <a:cs typeface="Calibri"/>
              </a:rPr>
              <a:t>SUSTAINABLE/INDUSTRIAL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200" y="1254760"/>
            <a:ext cx="7658100" cy="64516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152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20"/>
              </a:spcBef>
            </a:pPr>
            <a:r>
              <a:rPr sz="3600" b="1" dirty="0">
                <a:latin typeface="Calibri"/>
                <a:cs typeface="Calibri"/>
              </a:rPr>
              <a:t>A.</a:t>
            </a:r>
            <a:r>
              <a:rPr sz="3600" b="1" spc="-3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The</a:t>
            </a:r>
            <a:r>
              <a:rPr sz="3600" b="1" spc="-2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Green</a:t>
            </a:r>
            <a:r>
              <a:rPr sz="3600" b="1" spc="-5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Revolution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1940" y="2368232"/>
            <a:ext cx="8354059" cy="3562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" algn="just">
              <a:lnSpc>
                <a:spcPct val="100000"/>
              </a:lnSpc>
              <a:spcBef>
                <a:spcPts val="100"/>
              </a:spcBef>
            </a:pPr>
            <a:r>
              <a:rPr sz="2900" spc="-10" dirty="0">
                <a:latin typeface="Calibri"/>
                <a:cs typeface="Calibri"/>
              </a:rPr>
              <a:t>-</a:t>
            </a:r>
            <a:r>
              <a:rPr sz="2900" dirty="0">
                <a:latin typeface="Calibri"/>
                <a:cs typeface="Calibri"/>
              </a:rPr>
              <a:t>a</a:t>
            </a:r>
            <a:r>
              <a:rPr sz="2900" spc="22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strategy</a:t>
            </a:r>
            <a:r>
              <a:rPr sz="2900" spc="22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for</a:t>
            </a:r>
            <a:r>
              <a:rPr sz="2900" spc="22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increasing</a:t>
            </a:r>
            <a:r>
              <a:rPr sz="2900" spc="22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food</a:t>
            </a:r>
            <a:r>
              <a:rPr sz="2900" spc="22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production</a:t>
            </a:r>
            <a:r>
              <a:rPr sz="2900" spc="21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by</a:t>
            </a:r>
            <a:r>
              <a:rPr sz="2900" spc="23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targeting </a:t>
            </a:r>
            <a:r>
              <a:rPr sz="2900" dirty="0">
                <a:latin typeface="Calibri"/>
                <a:cs typeface="Calibri"/>
              </a:rPr>
              <a:t>maximum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yields</a:t>
            </a:r>
            <a:r>
              <a:rPr sz="2900" spc="-3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through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high</a:t>
            </a:r>
            <a:r>
              <a:rPr sz="2900" spc="-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input</a:t>
            </a:r>
            <a:r>
              <a:rPr sz="2900" spc="-1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of</a:t>
            </a:r>
            <a:r>
              <a:rPr sz="2900" spc="-4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resources.</a:t>
            </a:r>
            <a:endParaRPr sz="2900">
              <a:latin typeface="Calibri"/>
              <a:cs typeface="Calibri"/>
            </a:endParaRPr>
          </a:p>
          <a:p>
            <a:pPr marL="12700" marR="8890" algn="just">
              <a:lnSpc>
                <a:spcPct val="100000"/>
              </a:lnSpc>
              <a:spcBef>
                <a:spcPts val="5"/>
              </a:spcBef>
            </a:pPr>
            <a:r>
              <a:rPr sz="2900" spc="-10" dirty="0">
                <a:latin typeface="Calibri"/>
                <a:cs typeface="Calibri"/>
              </a:rPr>
              <a:t>-</a:t>
            </a:r>
            <a:r>
              <a:rPr sz="2900" dirty="0">
                <a:latin typeface="Calibri"/>
                <a:cs typeface="Calibri"/>
              </a:rPr>
              <a:t>has</a:t>
            </a:r>
            <a:r>
              <a:rPr sz="2900" spc="33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led</a:t>
            </a:r>
            <a:r>
              <a:rPr sz="2900" spc="32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to</a:t>
            </a:r>
            <a:r>
              <a:rPr sz="2900" spc="32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more</a:t>
            </a:r>
            <a:r>
              <a:rPr sz="2900" spc="33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32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more</a:t>
            </a:r>
            <a:r>
              <a:rPr sz="2900" spc="32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problems</a:t>
            </a:r>
            <a:r>
              <a:rPr sz="2900" spc="325" dirty="0">
                <a:latin typeface="Calibri"/>
                <a:cs typeface="Calibri"/>
              </a:rPr>
              <a:t>  </a:t>
            </a:r>
            <a:r>
              <a:rPr sz="2900" spc="-10" dirty="0">
                <a:latin typeface="Calibri"/>
                <a:cs typeface="Calibri"/>
              </a:rPr>
              <a:t>(economic </a:t>
            </a:r>
            <a:r>
              <a:rPr sz="2900" dirty="0">
                <a:latin typeface="Calibri"/>
                <a:cs typeface="Calibri"/>
              </a:rPr>
              <a:t>problems,</a:t>
            </a:r>
            <a:r>
              <a:rPr sz="2900" spc="-12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ecological</a:t>
            </a:r>
            <a:r>
              <a:rPr sz="2900" spc="-9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problems)</a:t>
            </a:r>
            <a:endParaRPr sz="2900">
              <a:latin typeface="Calibri"/>
              <a:cs typeface="Calibri"/>
            </a:endParaRPr>
          </a:p>
          <a:p>
            <a:pPr marL="466725" marR="5080" indent="-454659" algn="just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900" dirty="0">
                <a:latin typeface="Calibri"/>
                <a:cs typeface="Calibri"/>
              </a:rPr>
              <a:t>deterioration</a:t>
            </a:r>
            <a:r>
              <a:rPr sz="2900" spc="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of</a:t>
            </a:r>
            <a:r>
              <a:rPr sz="2900" spc="2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agroecosystems,</a:t>
            </a:r>
            <a:r>
              <a:rPr sz="2900" spc="1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e.g.</a:t>
            </a:r>
            <a:r>
              <a:rPr sz="2900" spc="2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 more</a:t>
            </a:r>
            <a:r>
              <a:rPr sz="2900" spc="-10" dirty="0">
                <a:latin typeface="Calibri"/>
                <a:cs typeface="Calibri"/>
              </a:rPr>
              <a:t> limited 	</a:t>
            </a:r>
            <a:r>
              <a:rPr sz="2900" dirty="0">
                <a:latin typeface="Calibri"/>
                <a:cs typeface="Calibri"/>
              </a:rPr>
              <a:t>variety</a:t>
            </a:r>
            <a:r>
              <a:rPr sz="2900" spc="29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of</a:t>
            </a:r>
            <a:r>
              <a:rPr sz="2900" spc="28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species</a:t>
            </a:r>
            <a:r>
              <a:rPr sz="2900" spc="28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of</a:t>
            </a:r>
            <a:r>
              <a:rPr sz="2900" spc="28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flora</a:t>
            </a:r>
            <a:r>
              <a:rPr sz="2900" spc="2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29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fauna,</a:t>
            </a:r>
            <a:r>
              <a:rPr sz="2900" spc="2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resistances</a:t>
            </a:r>
            <a:r>
              <a:rPr sz="2900" spc="295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in 	</a:t>
            </a:r>
            <a:r>
              <a:rPr sz="2900" dirty="0">
                <a:latin typeface="Calibri"/>
                <a:cs typeface="Calibri"/>
              </a:rPr>
              <a:t>pests,</a:t>
            </a:r>
            <a:r>
              <a:rPr sz="2900" spc="42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deficiencies</a:t>
            </a:r>
            <a:r>
              <a:rPr sz="2900" spc="434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in</a:t>
            </a:r>
            <a:r>
              <a:rPr sz="2900" spc="42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42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environment</a:t>
            </a:r>
            <a:r>
              <a:rPr sz="2900" spc="41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430" dirty="0">
                <a:latin typeface="Calibri"/>
                <a:cs typeface="Calibri"/>
              </a:rPr>
              <a:t>  </a:t>
            </a:r>
            <a:r>
              <a:rPr sz="2900" spc="-25" dirty="0">
                <a:latin typeface="Calibri"/>
                <a:cs typeface="Calibri"/>
              </a:rPr>
              <a:t>in 	</a:t>
            </a:r>
            <a:r>
              <a:rPr sz="2900" spc="-10" dirty="0">
                <a:latin typeface="Calibri"/>
                <a:cs typeface="Calibri"/>
              </a:rPr>
              <a:t>foodstuffs.</a:t>
            </a:r>
            <a:endParaRPr sz="29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6980" y="2479039"/>
            <a:ext cx="3121660" cy="2540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08FD5-23CD-DC0F-2BBC-91D56AD8DB8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5420" y="251459"/>
            <a:ext cx="7658100" cy="64770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165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30"/>
              </a:spcBef>
            </a:pPr>
            <a:r>
              <a:rPr sz="3600" dirty="0">
                <a:latin typeface="Calibri"/>
                <a:cs typeface="Calibri"/>
              </a:rPr>
              <a:t>A.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Green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Revolution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2890" y="1024509"/>
            <a:ext cx="8352790" cy="5361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2500" dirty="0">
                <a:latin typeface="Calibri"/>
                <a:cs typeface="Calibri"/>
              </a:rPr>
              <a:t>Drought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&amp;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desertification</a:t>
            </a:r>
            <a:endParaRPr sz="25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500" dirty="0">
                <a:latin typeface="Calibri"/>
                <a:cs typeface="Calibri"/>
              </a:rPr>
              <a:t>soil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erosion</a:t>
            </a:r>
            <a:endParaRPr sz="25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500" dirty="0">
                <a:latin typeface="Calibri"/>
                <a:cs typeface="Calibri"/>
              </a:rPr>
              <a:t>land</a:t>
            </a:r>
            <a:r>
              <a:rPr sz="2500" spc="-3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degradation</a:t>
            </a:r>
            <a:endParaRPr sz="25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500" dirty="0">
                <a:latin typeface="Calibri"/>
                <a:cs typeface="Calibri"/>
              </a:rPr>
              <a:t>ground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water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mining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20" dirty="0">
                <a:latin typeface="Calibri"/>
                <a:cs typeface="Calibri"/>
              </a:rPr>
              <a:t>well-</a:t>
            </a:r>
            <a:r>
              <a:rPr sz="2500" spc="-10" dirty="0">
                <a:latin typeface="Calibri"/>
                <a:cs typeface="Calibri"/>
              </a:rPr>
              <a:t>irrigated</a:t>
            </a:r>
            <a:r>
              <a:rPr sz="2500" spc="-9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regions</a:t>
            </a:r>
            <a:endParaRPr sz="2500">
              <a:latin typeface="Calibri"/>
              <a:cs typeface="Calibri"/>
            </a:endParaRPr>
          </a:p>
          <a:p>
            <a:pPr marL="469900" marR="8255" indent="-457834" algn="just">
              <a:lnSpc>
                <a:spcPct val="100000"/>
              </a:lnSpc>
              <a:buFont typeface="Arial MT"/>
              <a:buChar char="•"/>
              <a:tabLst>
                <a:tab pos="469900" algn="l"/>
                <a:tab pos="471805" algn="l"/>
              </a:tabLst>
            </a:pPr>
            <a:r>
              <a:rPr sz="2500" dirty="0">
                <a:latin typeface="Calibri"/>
                <a:cs typeface="Calibri"/>
              </a:rPr>
              <a:t>	extinction</a:t>
            </a:r>
            <a:r>
              <a:rPr sz="2500" spc="1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114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thousands</a:t>
            </a:r>
            <a:r>
              <a:rPr sz="2500" spc="1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114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indigenous</a:t>
            </a:r>
            <a:r>
              <a:rPr sz="2500" spc="11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varieties</a:t>
            </a:r>
            <a:r>
              <a:rPr sz="2500" spc="1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1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crops</a:t>
            </a:r>
            <a:r>
              <a:rPr sz="2500" spc="13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and </a:t>
            </a:r>
            <a:r>
              <a:rPr sz="2500" dirty="0">
                <a:latin typeface="Calibri"/>
                <a:cs typeface="Calibri"/>
              </a:rPr>
              <a:t>has</a:t>
            </a:r>
            <a:r>
              <a:rPr sz="2500" spc="90" dirty="0">
                <a:latin typeface="Calibri"/>
                <a:cs typeface="Calibri"/>
              </a:rPr>
              <a:t>  </a:t>
            </a:r>
            <a:r>
              <a:rPr sz="2500" dirty="0">
                <a:latin typeface="Calibri"/>
                <a:cs typeface="Calibri"/>
              </a:rPr>
              <a:t>replaced</a:t>
            </a:r>
            <a:r>
              <a:rPr sz="2500" spc="95" dirty="0">
                <a:latin typeface="Calibri"/>
                <a:cs typeface="Calibri"/>
              </a:rPr>
              <a:t>  </a:t>
            </a:r>
            <a:r>
              <a:rPr sz="2500" dirty="0">
                <a:latin typeface="Calibri"/>
                <a:cs typeface="Calibri"/>
              </a:rPr>
              <a:t>them</a:t>
            </a:r>
            <a:r>
              <a:rPr sz="2500" spc="90" dirty="0">
                <a:latin typeface="Calibri"/>
                <a:cs typeface="Calibri"/>
              </a:rPr>
              <a:t> 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95" dirty="0">
                <a:latin typeface="Calibri"/>
                <a:cs typeface="Calibri"/>
              </a:rPr>
              <a:t>  </a:t>
            </a:r>
            <a:r>
              <a:rPr sz="2500" dirty="0">
                <a:latin typeface="Calibri"/>
                <a:cs typeface="Calibri"/>
              </a:rPr>
              <a:t>monocultures</a:t>
            </a:r>
            <a:r>
              <a:rPr sz="2500" spc="95" dirty="0">
                <a:latin typeface="Calibri"/>
                <a:cs typeface="Calibri"/>
              </a:rPr>
              <a:t>  </a:t>
            </a:r>
            <a:r>
              <a:rPr sz="2500" dirty="0">
                <a:latin typeface="Calibri"/>
                <a:cs typeface="Calibri"/>
              </a:rPr>
              <a:t>that</a:t>
            </a:r>
            <a:r>
              <a:rPr sz="2500" spc="90" dirty="0">
                <a:latin typeface="Calibri"/>
                <a:cs typeface="Calibri"/>
              </a:rPr>
              <a:t>  </a:t>
            </a:r>
            <a:r>
              <a:rPr sz="2500" dirty="0">
                <a:latin typeface="Calibri"/>
                <a:cs typeface="Calibri"/>
              </a:rPr>
              <a:t>require</a:t>
            </a:r>
            <a:r>
              <a:rPr sz="2500" spc="85" dirty="0">
                <a:latin typeface="Calibri"/>
                <a:cs typeface="Calibri"/>
              </a:rPr>
              <a:t>  </a:t>
            </a:r>
            <a:r>
              <a:rPr sz="2500" spc="-20" dirty="0">
                <a:latin typeface="Calibri"/>
                <a:cs typeface="Calibri"/>
              </a:rPr>
              <a:t>high </a:t>
            </a:r>
            <a:r>
              <a:rPr sz="2500" dirty="0">
                <a:latin typeface="Calibri"/>
                <a:cs typeface="Calibri"/>
              </a:rPr>
              <a:t>chemical</a:t>
            </a:r>
            <a:r>
              <a:rPr sz="2500" spc="-114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inputs.</a:t>
            </a:r>
            <a:endParaRPr sz="2500">
              <a:latin typeface="Calibri"/>
              <a:cs typeface="Calibri"/>
            </a:endParaRPr>
          </a:p>
          <a:p>
            <a:pPr marL="472440" indent="-45974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72440" algn="l"/>
              </a:tabLst>
            </a:pPr>
            <a:r>
              <a:rPr sz="2500" dirty="0">
                <a:latin typeface="Calibri"/>
                <a:cs typeface="Calibri"/>
              </a:rPr>
              <a:t>polluted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land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water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systems</a:t>
            </a:r>
            <a:endParaRPr sz="2500">
              <a:latin typeface="Calibri"/>
              <a:cs typeface="Calibri"/>
            </a:endParaRPr>
          </a:p>
          <a:p>
            <a:pPr marL="472440" indent="-459740" algn="just">
              <a:lnSpc>
                <a:spcPct val="100000"/>
              </a:lnSpc>
              <a:buFont typeface="Arial MT"/>
              <a:buChar char="•"/>
              <a:tabLst>
                <a:tab pos="472440" algn="l"/>
              </a:tabLst>
            </a:pPr>
            <a:r>
              <a:rPr sz="2500" spc="-10" dirty="0">
                <a:latin typeface="Calibri"/>
                <a:cs typeface="Calibri"/>
              </a:rPr>
              <a:t>Pesticides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leave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residues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food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are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hazard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to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health.</a:t>
            </a:r>
            <a:endParaRPr sz="2500">
              <a:latin typeface="Calibri"/>
              <a:cs typeface="Calibri"/>
            </a:endParaRPr>
          </a:p>
          <a:p>
            <a:pPr marL="469900" marR="5080" indent="-457834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  <a:tab pos="471805" algn="l"/>
              </a:tabLst>
            </a:pPr>
            <a:r>
              <a:rPr sz="2500" dirty="0">
                <a:latin typeface="Calibri"/>
                <a:cs typeface="Calibri"/>
              </a:rPr>
              <a:t>	high</a:t>
            </a:r>
            <a:r>
              <a:rPr sz="2500" spc="2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rates</a:t>
            </a:r>
            <a:r>
              <a:rPr sz="2500" spc="229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229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displacement</a:t>
            </a:r>
            <a:r>
              <a:rPr sz="2500" spc="2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229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small</a:t>
            </a:r>
            <a:r>
              <a:rPr sz="2500" spc="2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holders,</a:t>
            </a:r>
            <a:r>
              <a:rPr sz="2500" spc="2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who</a:t>
            </a:r>
            <a:r>
              <a:rPr sz="2500" spc="2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could</a:t>
            </a:r>
            <a:r>
              <a:rPr sz="2500" spc="240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not </a:t>
            </a:r>
            <a:r>
              <a:rPr sz="2500" dirty="0">
                <a:latin typeface="Calibri"/>
                <a:cs typeface="Calibri"/>
              </a:rPr>
              <a:t>keep</a:t>
            </a:r>
            <a:r>
              <a:rPr sz="2500" spc="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up</a:t>
            </a:r>
            <a:r>
              <a:rPr sz="2500" spc="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3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vicious</a:t>
            </a:r>
            <a:r>
              <a:rPr sz="2500" spc="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cycle</a:t>
            </a:r>
            <a:r>
              <a:rPr sz="2500" spc="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of</a:t>
            </a:r>
            <a:r>
              <a:rPr sz="2500" spc="2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credits</a:t>
            </a:r>
            <a:r>
              <a:rPr sz="2500" spc="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and</a:t>
            </a:r>
            <a:r>
              <a:rPr sz="2500" spc="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debt</a:t>
            </a:r>
            <a:r>
              <a:rPr sz="2500" spc="4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associated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5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high</a:t>
            </a:r>
            <a:r>
              <a:rPr sz="2500" spc="5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external</a:t>
            </a:r>
            <a:r>
              <a:rPr sz="2500" spc="5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input</a:t>
            </a:r>
            <a:r>
              <a:rPr sz="2500" spc="5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agriculture.</a:t>
            </a:r>
            <a:r>
              <a:rPr sz="2500" spc="5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It</a:t>
            </a:r>
            <a:r>
              <a:rPr sz="2500" spc="5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has</a:t>
            </a:r>
            <a:r>
              <a:rPr sz="2500" spc="5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even</a:t>
            </a:r>
            <a:r>
              <a:rPr sz="2500" spc="57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affected </a:t>
            </a:r>
            <a:r>
              <a:rPr sz="2500" dirty="0">
                <a:latin typeface="Calibri"/>
                <a:cs typeface="Calibri"/>
              </a:rPr>
              <a:t>social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relationships.</a:t>
            </a:r>
            <a:endParaRPr sz="25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500" b="1" dirty="0">
                <a:latin typeface="Calibri"/>
                <a:cs typeface="Calibri"/>
              </a:rPr>
              <a:t>This</a:t>
            </a:r>
            <a:r>
              <a:rPr sz="2500" b="1" spc="-4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maximum</a:t>
            </a:r>
            <a:r>
              <a:rPr sz="2500" b="1" spc="-6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yield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spc="-20" dirty="0">
                <a:latin typeface="Calibri"/>
                <a:cs typeface="Calibri"/>
              </a:rPr>
              <a:t>strategy</a:t>
            </a:r>
            <a:r>
              <a:rPr sz="2500" b="1" spc="-3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has</a:t>
            </a:r>
            <a:r>
              <a:rPr sz="2500" b="1" spc="-5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proved</a:t>
            </a:r>
            <a:r>
              <a:rPr sz="2500" b="1" spc="-3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to</a:t>
            </a:r>
            <a:r>
              <a:rPr sz="2500" b="1" spc="-4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be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spc="-20" dirty="0">
                <a:latin typeface="Calibri"/>
                <a:cs typeface="Calibri"/>
              </a:rPr>
              <a:t>non-</a:t>
            </a:r>
            <a:r>
              <a:rPr sz="2500" b="1" spc="-10" dirty="0">
                <a:latin typeface="Calibri"/>
                <a:cs typeface="Calibri"/>
              </a:rPr>
              <a:t>sustainable.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640" y="1673860"/>
            <a:ext cx="2768600" cy="18440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78240" y="3705859"/>
            <a:ext cx="3327400" cy="243077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001EF-BE64-B0DC-E1DD-8C38A2C2556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16000"/>
            <a:ext cx="12192000" cy="5842000"/>
            <a:chOff x="0" y="1016000"/>
            <a:chExt cx="12192000" cy="5842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1279" y="1016000"/>
              <a:ext cx="2715260" cy="314452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78340" y="3642360"/>
              <a:ext cx="2496820" cy="28067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5420" y="251459"/>
            <a:ext cx="8996680" cy="64770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1651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130"/>
              </a:spcBef>
            </a:pPr>
            <a:r>
              <a:rPr sz="3600" dirty="0">
                <a:latin typeface="Calibri"/>
                <a:cs typeface="Calibri"/>
              </a:rPr>
              <a:t>B.</a:t>
            </a:r>
            <a:r>
              <a:rPr sz="3600" spc="-1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Market</a:t>
            </a:r>
            <a:r>
              <a:rPr sz="3600" spc="-114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Economics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and</a:t>
            </a:r>
            <a:r>
              <a:rPr sz="3600" spc="-114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Market</a:t>
            </a:r>
            <a:r>
              <a:rPr sz="3600" spc="-114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2890" y="1328102"/>
            <a:ext cx="7148195" cy="429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conventional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development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policies.</a:t>
            </a:r>
            <a:endParaRPr sz="2800">
              <a:latin typeface="Calibri"/>
              <a:cs typeface="Calibri"/>
            </a:endParaRPr>
          </a:p>
          <a:p>
            <a:pPr marL="12700" marR="8255" algn="just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market</a:t>
            </a:r>
            <a:r>
              <a:rPr sz="2800" spc="31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3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main</a:t>
            </a:r>
            <a:r>
              <a:rPr sz="2800" spc="3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instrument</a:t>
            </a:r>
            <a:r>
              <a:rPr sz="2800" spc="3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310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regulate </a:t>
            </a:r>
            <a:r>
              <a:rPr sz="2800" dirty="0">
                <a:latin typeface="Calibri"/>
                <a:cs typeface="Calibri"/>
              </a:rPr>
              <a:t>supply</a:t>
            </a:r>
            <a:r>
              <a:rPr sz="2800" spc="2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5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demand</a:t>
            </a:r>
            <a:r>
              <a:rPr sz="2800" spc="25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hence</a:t>
            </a:r>
            <a:r>
              <a:rPr sz="2800" spc="25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flow</a:t>
            </a:r>
            <a:r>
              <a:rPr sz="2800" spc="254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materials.</a:t>
            </a:r>
            <a:endParaRPr sz="2800">
              <a:latin typeface="Calibri"/>
              <a:cs typeface="Calibri"/>
            </a:endParaRPr>
          </a:p>
          <a:p>
            <a:pPr marL="12700" marR="5080" algn="just">
              <a:lnSpc>
                <a:spcPct val="100000"/>
              </a:lnSpc>
            </a:pPr>
            <a:r>
              <a:rPr sz="2800" spc="-10" dirty="0">
                <a:latin typeface="Calibri"/>
                <a:cs typeface="Calibri"/>
              </a:rPr>
              <a:t>-</a:t>
            </a:r>
            <a:r>
              <a:rPr sz="2800" dirty="0">
                <a:latin typeface="Calibri"/>
                <a:cs typeface="Calibri"/>
              </a:rPr>
              <a:t>Profit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making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1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main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driving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force.</a:t>
            </a:r>
            <a:r>
              <a:rPr sz="2800" spc="114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market</a:t>
            </a:r>
            <a:r>
              <a:rPr sz="2800" spc="5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economy</a:t>
            </a:r>
            <a:r>
              <a:rPr sz="2800" spc="5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5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linear</a:t>
            </a:r>
            <a:r>
              <a:rPr sz="2800" spc="5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concept: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5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huge</a:t>
            </a:r>
            <a:r>
              <a:rPr sz="2800" spc="5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quantities</a:t>
            </a:r>
            <a:r>
              <a:rPr sz="2800" spc="5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energy</a:t>
            </a:r>
            <a:r>
              <a:rPr sz="2800" spc="5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55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raw </a:t>
            </a:r>
            <a:r>
              <a:rPr sz="2800" dirty="0">
                <a:latin typeface="Calibri"/>
                <a:cs typeface="Calibri"/>
              </a:rPr>
              <a:t>materials</a:t>
            </a:r>
            <a:r>
              <a:rPr sz="2800" spc="2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2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inputs,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processing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transporting </a:t>
            </a:r>
            <a:r>
              <a:rPr sz="2800" dirty="0">
                <a:latin typeface="Calibri"/>
                <a:cs typeface="Calibri"/>
              </a:rPr>
              <a:t>them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around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globe,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selling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them</a:t>
            </a:r>
            <a:r>
              <a:rPr sz="2800" spc="14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spc="-10" dirty="0">
                <a:latin typeface="Calibri"/>
                <a:cs typeface="Calibri"/>
              </a:rPr>
              <a:t>consumers.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59DF05-CC21-B65C-5911-182A574605E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190" y="-4953"/>
            <a:ext cx="11696700" cy="6184900"/>
          </a:xfrm>
          <a:prstGeom prst="rect">
            <a:avLst/>
          </a:prstGeom>
        </p:spPr>
        <p:txBody>
          <a:bodyPr vert="horz" wrap="square" lIns="0" tIns="256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0"/>
              </a:spcBef>
            </a:pPr>
            <a:r>
              <a:rPr sz="2800" spc="-10" dirty="0">
                <a:latin typeface="Calibri"/>
                <a:cs typeface="Calibri"/>
              </a:rPr>
              <a:t>Market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economics,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translated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agriculture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favored:</a:t>
            </a:r>
            <a:endParaRPr sz="2800">
              <a:latin typeface="Calibri"/>
              <a:cs typeface="Calibri"/>
            </a:endParaRPr>
          </a:p>
          <a:p>
            <a:pPr marL="12700" marR="5080" indent="317500" algn="just">
              <a:lnSpc>
                <a:spcPct val="100000"/>
              </a:lnSpc>
              <a:spcBef>
                <a:spcPts val="1925"/>
              </a:spcBef>
              <a:buSzPct val="98214"/>
              <a:buChar char="•"/>
              <a:tabLst>
                <a:tab pos="330200" algn="l"/>
              </a:tabLst>
            </a:pPr>
            <a:r>
              <a:rPr sz="2800" dirty="0">
                <a:latin typeface="Calibri"/>
                <a:cs typeface="Calibri"/>
              </a:rPr>
              <a:t>Production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market,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leading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increased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production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export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crops </a:t>
            </a:r>
            <a:r>
              <a:rPr sz="2800" dirty="0">
                <a:latin typeface="Calibri"/>
                <a:cs typeface="Calibri"/>
              </a:rPr>
              <a:t>(the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external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costs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being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loss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local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food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self-</a:t>
            </a:r>
            <a:r>
              <a:rPr sz="2800" dirty="0">
                <a:latin typeface="Calibri"/>
                <a:cs typeface="Calibri"/>
              </a:rPr>
              <a:t>sufficiency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reinforcement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rural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inequities);</a:t>
            </a:r>
            <a:endParaRPr sz="2800">
              <a:latin typeface="Calibri"/>
              <a:cs typeface="Calibri"/>
            </a:endParaRPr>
          </a:p>
          <a:p>
            <a:pPr marL="12700" marR="7620" indent="261620" algn="just">
              <a:lnSpc>
                <a:spcPct val="100000"/>
              </a:lnSpc>
              <a:spcBef>
                <a:spcPts val="1440"/>
              </a:spcBef>
              <a:buSzPct val="98214"/>
              <a:buChar char="•"/>
              <a:tabLst>
                <a:tab pos="274320" algn="l"/>
              </a:tabLst>
            </a:pPr>
            <a:r>
              <a:rPr sz="2800" dirty="0">
                <a:latin typeface="Calibri"/>
                <a:cs typeface="Calibri"/>
              </a:rPr>
              <a:t>Intensified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often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inefficient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external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(leading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external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costs </a:t>
            </a:r>
            <a:r>
              <a:rPr sz="2800" dirty="0">
                <a:latin typeface="Calibri"/>
                <a:cs typeface="Calibri"/>
              </a:rPr>
              <a:t>like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pollution,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lower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food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quality,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indebtedness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increasing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non- </a:t>
            </a:r>
            <a:r>
              <a:rPr sz="2800" dirty="0">
                <a:latin typeface="Calibri"/>
                <a:cs typeface="Calibri"/>
              </a:rPr>
              <a:t>renewable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energy);</a:t>
            </a:r>
            <a:endParaRPr sz="2800">
              <a:latin typeface="Calibri"/>
              <a:cs typeface="Calibri"/>
            </a:endParaRPr>
          </a:p>
          <a:p>
            <a:pPr marL="12700" marR="5080" indent="261620" algn="just">
              <a:lnSpc>
                <a:spcPct val="100000"/>
              </a:lnSpc>
              <a:spcBef>
                <a:spcPts val="1445"/>
              </a:spcBef>
              <a:buSzPct val="98214"/>
              <a:buChar char="•"/>
              <a:tabLst>
                <a:tab pos="274320" algn="l"/>
              </a:tabLst>
            </a:pPr>
            <a:r>
              <a:rPr sz="2800" dirty="0">
                <a:latin typeface="Calibri"/>
                <a:cs typeface="Calibri"/>
              </a:rPr>
              <a:t>Monocropping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simplification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agroecosystem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(leading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soil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erosion, </a:t>
            </a:r>
            <a:r>
              <a:rPr sz="2800" dirty="0">
                <a:latin typeface="Calibri"/>
                <a:cs typeface="Calibri"/>
              </a:rPr>
              <a:t>loss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diversity,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loss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indigenous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knowledge);</a:t>
            </a:r>
            <a:endParaRPr sz="2800">
              <a:latin typeface="Calibri"/>
              <a:cs typeface="Calibri"/>
            </a:endParaRPr>
          </a:p>
          <a:p>
            <a:pPr marL="12700" marR="5080" indent="-10160" algn="just">
              <a:lnSpc>
                <a:spcPct val="100000"/>
              </a:lnSpc>
              <a:spcBef>
                <a:spcPts val="1445"/>
              </a:spcBef>
              <a:buSzPct val="98214"/>
              <a:buChar char="•"/>
              <a:tabLst>
                <a:tab pos="189865" algn="l"/>
              </a:tabLst>
            </a:pPr>
            <a:r>
              <a:rPr sz="2800" dirty="0">
                <a:latin typeface="Calibri"/>
                <a:cs typeface="Calibri"/>
              </a:rPr>
              <a:t>	Reliance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“modern”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technologies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lifestyle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(undermining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traditional </a:t>
            </a:r>
            <a:r>
              <a:rPr sz="2800" dirty="0">
                <a:latin typeface="Calibri"/>
                <a:cs typeface="Calibri"/>
              </a:rPr>
              <a:t>social</a:t>
            </a:r>
            <a:r>
              <a:rPr sz="2800" spc="6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6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cultural</a:t>
            </a:r>
            <a:r>
              <a:rPr sz="2800" spc="6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strengths</a:t>
            </a:r>
            <a:r>
              <a:rPr sz="2800" spc="6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6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communities,</a:t>
            </a:r>
            <a:r>
              <a:rPr sz="2800" spc="6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increasing</a:t>
            </a:r>
            <a:r>
              <a:rPr sz="2800" spc="6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burden</a:t>
            </a:r>
            <a:r>
              <a:rPr sz="2800" spc="6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 </a:t>
            </a:r>
            <a:r>
              <a:rPr sz="2800" dirty="0">
                <a:latin typeface="Calibri"/>
                <a:cs typeface="Calibri"/>
              </a:rPr>
              <a:t>women)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(Shiva,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1992).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FFBF1D-1F0F-C630-0ED6-8729CA4B778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5460" y="3362959"/>
            <a:ext cx="4318000" cy="26136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12439" y="1789684"/>
            <a:ext cx="6017895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6780" marR="5080" indent="-894715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CONVENTIONAL</a:t>
            </a:r>
            <a:r>
              <a:rPr spc="-11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FARMING</a:t>
            </a:r>
            <a:r>
              <a:rPr spc="-114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SYSTEM: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GREEN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REVOLUTION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3040" y="3507965"/>
            <a:ext cx="3711044" cy="222571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F482E-F7F8-D72D-100E-995731F57E9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50720" y="1742440"/>
            <a:ext cx="8425180" cy="46837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8261" rIns="0" bIns="0" rtlCol="0">
            <a:spAutoFit/>
          </a:bodyPr>
          <a:lstStyle/>
          <a:p>
            <a:pPr marL="44005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SUCCESS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&amp;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SHORTCOMINGS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GREEN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REVOLUTION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02600" y="4290059"/>
            <a:ext cx="944880" cy="3683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31750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250"/>
              </a:spcBef>
            </a:pPr>
            <a:r>
              <a:rPr sz="1800" b="1" spc="-10" dirty="0">
                <a:latin typeface="Calibri"/>
                <a:cs typeface="Calibri"/>
              </a:rPr>
              <a:t>Debts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A8C1C-6D03-5020-88F8-98AFF6EBA3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55319"/>
            <a:ext cx="12192000" cy="6202680"/>
            <a:chOff x="0" y="655319"/>
            <a:chExt cx="12192000" cy="6202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0819" y="655319"/>
              <a:ext cx="5689600" cy="55473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47940" y="929639"/>
              <a:ext cx="2357120" cy="5148580"/>
            </a:xfrm>
            <a:prstGeom prst="rect">
              <a:avLst/>
            </a:prstGeom>
          </p:spPr>
        </p:pic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2B4A4-AA96-7C06-CB8A-D82D7DDC869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7699" y="1391919"/>
            <a:ext cx="8138159" cy="52476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1910714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/>
                <a:cs typeface="Calibri"/>
              </a:rPr>
              <a:t>PESTICIDES:</a:t>
            </a:r>
            <a:endParaRPr sz="3600">
              <a:latin typeface="Calibri"/>
              <a:cs typeface="Calibri"/>
            </a:endParaRPr>
          </a:p>
          <a:p>
            <a:pPr marL="1910714">
              <a:lnSpc>
                <a:spcPct val="100000"/>
              </a:lnSpc>
            </a:pPr>
            <a:r>
              <a:rPr sz="3600" dirty="0">
                <a:latin typeface="Calibri"/>
                <a:cs typeface="Calibri"/>
              </a:rPr>
              <a:t>“Plant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Medicine”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or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Poison?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7A4C24-11C1-8D5B-8961-840F7D63097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148839"/>
            <a:ext cx="12192000" cy="4709160"/>
            <a:chOff x="0" y="2148839"/>
            <a:chExt cx="12192000" cy="4709160"/>
          </a:xfrm>
        </p:grpSpPr>
        <p:sp>
          <p:nvSpPr>
            <p:cNvPr id="3" name="object 3"/>
            <p:cNvSpPr/>
            <p:nvPr/>
          </p:nvSpPr>
          <p:spPr>
            <a:xfrm>
              <a:off x="245110" y="2155189"/>
              <a:ext cx="5194300" cy="4244340"/>
            </a:xfrm>
            <a:custGeom>
              <a:avLst/>
              <a:gdLst/>
              <a:ahLst/>
              <a:cxnLst/>
              <a:rect l="l" t="t" r="r" b="b"/>
              <a:pathLst>
                <a:path w="5194300" h="4244340">
                  <a:moveTo>
                    <a:pt x="5194300" y="0"/>
                  </a:moveTo>
                  <a:lnTo>
                    <a:pt x="0" y="0"/>
                  </a:lnTo>
                  <a:lnTo>
                    <a:pt x="0" y="4244340"/>
                  </a:lnTo>
                  <a:lnTo>
                    <a:pt x="5194300" y="4244340"/>
                  </a:lnTo>
                  <a:lnTo>
                    <a:pt x="51943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45110" y="2155189"/>
              <a:ext cx="5194300" cy="4244340"/>
            </a:xfrm>
            <a:custGeom>
              <a:avLst/>
              <a:gdLst/>
              <a:ahLst/>
              <a:cxnLst/>
              <a:rect l="l" t="t" r="r" b="b"/>
              <a:pathLst>
                <a:path w="5194300" h="4244340">
                  <a:moveTo>
                    <a:pt x="0" y="4244340"/>
                  </a:moveTo>
                  <a:lnTo>
                    <a:pt x="5194300" y="4244340"/>
                  </a:lnTo>
                  <a:lnTo>
                    <a:pt x="5194300" y="0"/>
                  </a:lnTo>
                  <a:lnTo>
                    <a:pt x="0" y="0"/>
                  </a:lnTo>
                  <a:lnTo>
                    <a:pt x="0" y="4244340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12695" y="133096"/>
            <a:ext cx="6570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/>
                <a:cs typeface="Calibri"/>
              </a:rPr>
              <a:t>CONVENTIONAL</a:t>
            </a:r>
            <a:r>
              <a:rPr sz="3600" spc="-15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FARMING:</a:t>
            </a:r>
            <a:r>
              <a:rPr sz="3600" spc="-13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Reality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5109" y="956310"/>
            <a:ext cx="11371580" cy="1016000"/>
          </a:xfrm>
          <a:prstGeom prst="rect">
            <a:avLst/>
          </a:prstGeom>
          <a:ln w="12700">
            <a:solidFill>
              <a:srgbClr val="FFC000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548005" marR="360680" indent="-457834">
              <a:lnSpc>
                <a:spcPct val="100000"/>
              </a:lnSpc>
              <a:spcBef>
                <a:spcPts val="160"/>
              </a:spcBef>
            </a:pPr>
            <a:r>
              <a:rPr sz="3000" b="1" dirty="0">
                <a:latin typeface="Calibri"/>
                <a:cs typeface="Calibri"/>
              </a:rPr>
              <a:t>A.</a:t>
            </a:r>
            <a:r>
              <a:rPr sz="3000" b="1" spc="21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Agricultural</a:t>
            </a:r>
            <a:r>
              <a:rPr sz="3000" b="1" spc="-9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commodities</a:t>
            </a:r>
            <a:r>
              <a:rPr sz="3000" b="1" spc="-11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contain</a:t>
            </a:r>
            <a:r>
              <a:rPr sz="3000" b="1" spc="-8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harmful</a:t>
            </a:r>
            <a:r>
              <a:rPr sz="3000" b="1" spc="-7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residues</a:t>
            </a:r>
            <a:r>
              <a:rPr sz="3000" b="1" spc="-7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from</a:t>
            </a:r>
            <a:r>
              <a:rPr sz="3000" b="1" spc="-6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the</a:t>
            </a:r>
            <a:r>
              <a:rPr sz="3000" b="1" spc="-7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usage </a:t>
            </a:r>
            <a:r>
              <a:rPr sz="3000" b="1" dirty="0">
                <a:latin typeface="Calibri"/>
                <a:cs typeface="Calibri"/>
              </a:rPr>
              <a:t>of</a:t>
            </a:r>
            <a:r>
              <a:rPr sz="3000" b="1" spc="-5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pesticides,</a:t>
            </a:r>
            <a:r>
              <a:rPr sz="3000" b="1" spc="-105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chemicals,</a:t>
            </a:r>
            <a:r>
              <a:rPr sz="3000" b="1" spc="-80" dirty="0">
                <a:latin typeface="Calibri"/>
                <a:cs typeface="Calibri"/>
              </a:rPr>
              <a:t> </a:t>
            </a:r>
            <a:r>
              <a:rPr sz="3000" b="1" spc="-20" dirty="0">
                <a:latin typeface="Calibri"/>
                <a:cs typeface="Calibri"/>
              </a:rPr>
              <a:t>etc.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dirty="0"/>
              <a:t>-USDA,</a:t>
            </a:r>
            <a:r>
              <a:rPr spc="740" dirty="0"/>
              <a:t>  </a:t>
            </a:r>
            <a:r>
              <a:rPr dirty="0"/>
              <a:t>on</a:t>
            </a:r>
            <a:r>
              <a:rPr spc="745" dirty="0"/>
              <a:t>  </a:t>
            </a:r>
            <a:r>
              <a:rPr dirty="0"/>
              <a:t>their</a:t>
            </a:r>
            <a:r>
              <a:rPr spc="730" dirty="0"/>
              <a:t>  </a:t>
            </a:r>
            <a:r>
              <a:rPr dirty="0"/>
              <a:t>tests</a:t>
            </a:r>
            <a:r>
              <a:rPr spc="745" dirty="0"/>
              <a:t>  </a:t>
            </a:r>
            <a:r>
              <a:rPr spc="-25" dirty="0"/>
              <a:t>and </a:t>
            </a:r>
            <a:r>
              <a:rPr dirty="0"/>
              <a:t>researches</a:t>
            </a:r>
            <a:r>
              <a:rPr spc="550" dirty="0"/>
              <a:t> </a:t>
            </a:r>
            <a:r>
              <a:rPr dirty="0"/>
              <a:t>on</a:t>
            </a:r>
            <a:r>
              <a:rPr spc="530" dirty="0"/>
              <a:t> </a:t>
            </a:r>
            <a:r>
              <a:rPr dirty="0"/>
              <a:t>1995</a:t>
            </a:r>
            <a:r>
              <a:rPr spc="525" dirty="0"/>
              <a:t> </a:t>
            </a:r>
            <a:r>
              <a:rPr dirty="0"/>
              <a:t>which</a:t>
            </a:r>
            <a:r>
              <a:rPr spc="545" dirty="0"/>
              <a:t> </a:t>
            </a:r>
            <a:r>
              <a:rPr spc="-25" dirty="0"/>
              <a:t>was </a:t>
            </a:r>
            <a:r>
              <a:rPr dirty="0"/>
              <a:t>followed</a:t>
            </a:r>
            <a:r>
              <a:rPr spc="225" dirty="0"/>
              <a:t>  </a:t>
            </a:r>
            <a:r>
              <a:rPr dirty="0"/>
              <a:t>on</a:t>
            </a:r>
            <a:r>
              <a:rPr spc="215" dirty="0"/>
              <a:t>  </a:t>
            </a:r>
            <a:r>
              <a:rPr dirty="0"/>
              <a:t>2002,</a:t>
            </a:r>
            <a:r>
              <a:rPr spc="210" dirty="0"/>
              <a:t>  </a:t>
            </a:r>
            <a:r>
              <a:rPr dirty="0"/>
              <a:t>found</a:t>
            </a:r>
            <a:r>
              <a:rPr spc="210" dirty="0"/>
              <a:t>  </a:t>
            </a:r>
            <a:r>
              <a:rPr spc="-25" dirty="0"/>
              <a:t>out </a:t>
            </a:r>
            <a:r>
              <a:rPr dirty="0"/>
              <a:t>that</a:t>
            </a:r>
            <a:r>
              <a:rPr spc="370" dirty="0"/>
              <a:t>   </a:t>
            </a:r>
            <a:r>
              <a:rPr dirty="0"/>
              <a:t>among</a:t>
            </a:r>
            <a:r>
              <a:rPr spc="375" dirty="0"/>
              <a:t>   </a:t>
            </a:r>
            <a:r>
              <a:rPr dirty="0"/>
              <a:t>the</a:t>
            </a:r>
            <a:r>
              <a:rPr spc="370" dirty="0"/>
              <a:t>   </a:t>
            </a:r>
            <a:r>
              <a:rPr dirty="0"/>
              <a:t>12</a:t>
            </a:r>
            <a:r>
              <a:rPr spc="375" dirty="0"/>
              <a:t>   </a:t>
            </a:r>
            <a:r>
              <a:rPr spc="-20" dirty="0"/>
              <a:t>most </a:t>
            </a:r>
            <a:r>
              <a:rPr dirty="0"/>
              <a:t>commonly</a:t>
            </a:r>
            <a:r>
              <a:rPr spc="725" dirty="0"/>
              <a:t>  </a:t>
            </a:r>
            <a:r>
              <a:rPr dirty="0"/>
              <a:t>eaten</a:t>
            </a:r>
            <a:r>
              <a:rPr spc="740" dirty="0"/>
              <a:t>  </a:t>
            </a:r>
            <a:r>
              <a:rPr spc="-10" dirty="0"/>
              <a:t>agricultural </a:t>
            </a:r>
            <a:r>
              <a:rPr dirty="0"/>
              <a:t>commodities</a:t>
            </a:r>
            <a:r>
              <a:rPr spc="725" dirty="0"/>
              <a:t>    </a:t>
            </a:r>
            <a:r>
              <a:rPr dirty="0"/>
              <a:t>and</a:t>
            </a:r>
            <a:r>
              <a:rPr spc="725" dirty="0"/>
              <a:t>    </a:t>
            </a:r>
            <a:r>
              <a:rPr spc="-10" dirty="0"/>
              <a:t>wheat </a:t>
            </a:r>
            <a:r>
              <a:rPr dirty="0"/>
              <a:t>samples,</a:t>
            </a:r>
            <a:r>
              <a:rPr spc="730" dirty="0"/>
              <a:t>    </a:t>
            </a:r>
            <a:r>
              <a:rPr spc="-30" dirty="0"/>
              <a:t>73%-</a:t>
            </a:r>
            <a:r>
              <a:rPr dirty="0"/>
              <a:t>90%</a:t>
            </a:r>
            <a:r>
              <a:rPr spc="730" dirty="0"/>
              <a:t>    </a:t>
            </a:r>
            <a:r>
              <a:rPr spc="-20" dirty="0"/>
              <a:t>were </a:t>
            </a:r>
            <a:r>
              <a:rPr dirty="0"/>
              <a:t>contaminated</a:t>
            </a:r>
            <a:r>
              <a:rPr spc="395" dirty="0"/>
              <a:t>   </a:t>
            </a:r>
            <a:r>
              <a:rPr dirty="0"/>
              <a:t>by</a:t>
            </a:r>
            <a:r>
              <a:rPr spc="405" dirty="0"/>
              <a:t>   </a:t>
            </a:r>
            <a:r>
              <a:rPr spc="-10" dirty="0"/>
              <a:t>pesticides, </a:t>
            </a:r>
            <a:r>
              <a:rPr dirty="0"/>
              <a:t>even</a:t>
            </a:r>
            <a:r>
              <a:rPr spc="-80" dirty="0"/>
              <a:t> </a:t>
            </a:r>
            <a:r>
              <a:rPr dirty="0"/>
              <a:t>after</a:t>
            </a:r>
            <a:r>
              <a:rPr spc="-70" dirty="0"/>
              <a:t> </a:t>
            </a:r>
            <a:r>
              <a:rPr dirty="0"/>
              <a:t>washing</a:t>
            </a:r>
            <a:r>
              <a:rPr spc="-5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peeling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725159" y="2148839"/>
            <a:ext cx="6129020" cy="4411980"/>
            <a:chOff x="5725159" y="2148839"/>
            <a:chExt cx="6129020" cy="4411980"/>
          </a:xfrm>
        </p:grpSpPr>
        <p:sp>
          <p:nvSpPr>
            <p:cNvPr id="9" name="object 9"/>
            <p:cNvSpPr/>
            <p:nvPr/>
          </p:nvSpPr>
          <p:spPr>
            <a:xfrm>
              <a:off x="5731509" y="2155189"/>
              <a:ext cx="6116320" cy="4399280"/>
            </a:xfrm>
            <a:custGeom>
              <a:avLst/>
              <a:gdLst/>
              <a:ahLst/>
              <a:cxnLst/>
              <a:rect l="l" t="t" r="r" b="b"/>
              <a:pathLst>
                <a:path w="6116320" h="4399280">
                  <a:moveTo>
                    <a:pt x="6116320" y="0"/>
                  </a:moveTo>
                  <a:lnTo>
                    <a:pt x="0" y="0"/>
                  </a:lnTo>
                  <a:lnTo>
                    <a:pt x="0" y="4399280"/>
                  </a:lnTo>
                  <a:lnTo>
                    <a:pt x="6116320" y="4399280"/>
                  </a:lnTo>
                  <a:lnTo>
                    <a:pt x="6116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31509" y="2155189"/>
              <a:ext cx="6116320" cy="4399280"/>
            </a:xfrm>
            <a:custGeom>
              <a:avLst/>
              <a:gdLst/>
              <a:ahLst/>
              <a:cxnLst/>
              <a:rect l="l" t="t" r="r" b="b"/>
              <a:pathLst>
                <a:path w="6116320" h="4399280">
                  <a:moveTo>
                    <a:pt x="0" y="4399280"/>
                  </a:moveTo>
                  <a:lnTo>
                    <a:pt x="6116320" y="4399280"/>
                  </a:lnTo>
                  <a:lnTo>
                    <a:pt x="6116320" y="0"/>
                  </a:lnTo>
                  <a:lnTo>
                    <a:pt x="0" y="0"/>
                  </a:lnTo>
                  <a:lnTo>
                    <a:pt x="0" y="4399280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810884" y="2163381"/>
            <a:ext cx="5942965" cy="429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4345">
              <a:lnSpc>
                <a:spcPct val="100000"/>
              </a:lnSpc>
              <a:spcBef>
                <a:spcPts val="100"/>
              </a:spcBef>
            </a:pPr>
            <a:r>
              <a:rPr sz="2800" b="1" spc="-40" dirty="0">
                <a:latin typeface="Calibri"/>
                <a:cs typeface="Calibri"/>
              </a:rPr>
              <a:t>EPA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&amp;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US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Dept.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Health</a:t>
            </a:r>
            <a:r>
              <a:rPr sz="2800" b="1" spc="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Findings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5are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toxic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nervous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system.</a:t>
            </a:r>
            <a:endParaRPr sz="2800">
              <a:latin typeface="Calibri"/>
              <a:cs typeface="Calibri"/>
            </a:endParaRPr>
          </a:p>
          <a:p>
            <a:pPr marL="355600" marR="41402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18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harmful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skin,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eyes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lungs.</a:t>
            </a:r>
            <a:endParaRPr sz="2800">
              <a:latin typeface="Calibri"/>
              <a:cs typeface="Calibri"/>
            </a:endParaRPr>
          </a:p>
          <a:p>
            <a:pPr marL="355600" marR="39624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About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half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comprised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cancer- </a:t>
            </a:r>
            <a:r>
              <a:rPr sz="2800" dirty="0">
                <a:latin typeface="Calibri"/>
                <a:cs typeface="Calibri"/>
              </a:rPr>
              <a:t>causing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chemicals.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17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cause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genetic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damage.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10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harmful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reproductive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organs.</a:t>
            </a:r>
            <a:endParaRPr sz="2800">
              <a:latin typeface="Calibri"/>
              <a:cs typeface="Calibri"/>
            </a:endParaRPr>
          </a:p>
          <a:p>
            <a:pPr marL="355600" marR="137541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6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disrupt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normal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hormones.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579F4EE-6466-604C-F59F-594AD8AF19B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447800"/>
            <a:ext cx="12192000" cy="5410200"/>
            <a:chOff x="0" y="1447800"/>
            <a:chExt cx="12192000" cy="5410200"/>
          </a:xfrm>
        </p:grpSpPr>
        <p:sp>
          <p:nvSpPr>
            <p:cNvPr id="3" name="object 3"/>
            <p:cNvSpPr/>
            <p:nvPr/>
          </p:nvSpPr>
          <p:spPr>
            <a:xfrm>
              <a:off x="727709" y="1454150"/>
              <a:ext cx="5732780" cy="4709160"/>
            </a:xfrm>
            <a:custGeom>
              <a:avLst/>
              <a:gdLst/>
              <a:ahLst/>
              <a:cxnLst/>
              <a:rect l="l" t="t" r="r" b="b"/>
              <a:pathLst>
                <a:path w="5732780" h="4709160">
                  <a:moveTo>
                    <a:pt x="5732780" y="0"/>
                  </a:moveTo>
                  <a:lnTo>
                    <a:pt x="0" y="0"/>
                  </a:lnTo>
                  <a:lnTo>
                    <a:pt x="0" y="4709160"/>
                  </a:lnTo>
                  <a:lnTo>
                    <a:pt x="5732780" y="4709160"/>
                  </a:lnTo>
                  <a:lnTo>
                    <a:pt x="57327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27709" y="1454150"/>
              <a:ext cx="5732780" cy="4709160"/>
            </a:xfrm>
            <a:custGeom>
              <a:avLst/>
              <a:gdLst/>
              <a:ahLst/>
              <a:cxnLst/>
              <a:rect l="l" t="t" r="r" b="b"/>
              <a:pathLst>
                <a:path w="5732780" h="4709160">
                  <a:moveTo>
                    <a:pt x="0" y="4709160"/>
                  </a:moveTo>
                  <a:lnTo>
                    <a:pt x="5732780" y="4709160"/>
                  </a:lnTo>
                  <a:lnTo>
                    <a:pt x="5732780" y="0"/>
                  </a:lnTo>
                  <a:lnTo>
                    <a:pt x="0" y="0"/>
                  </a:lnTo>
                  <a:lnTo>
                    <a:pt x="0" y="4709160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2627" y="242823"/>
            <a:ext cx="459486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Calibri"/>
                <a:cs typeface="Calibri"/>
              </a:rPr>
              <a:t>CONVENTIONAL</a:t>
            </a:r>
            <a:r>
              <a:rPr spc="-9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FARMING:</a:t>
            </a:r>
          </a:p>
          <a:p>
            <a:pPr marL="716915" algn="ctr">
              <a:lnSpc>
                <a:spcPct val="100000"/>
              </a:lnSpc>
            </a:pPr>
            <a:r>
              <a:rPr spc="-10" dirty="0">
                <a:latin typeface="Calibri"/>
                <a:cs typeface="Calibri"/>
              </a:rPr>
              <a:t>Reality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04544" y="1460563"/>
            <a:ext cx="5574665" cy="2312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0660">
              <a:lnSpc>
                <a:spcPct val="100000"/>
              </a:lnSpc>
              <a:spcBef>
                <a:spcPts val="100"/>
              </a:spcBef>
            </a:pPr>
            <a:r>
              <a:rPr sz="3000" b="1" i="1" spc="-10" dirty="0">
                <a:latin typeface="Calibri"/>
                <a:cs typeface="Calibri"/>
              </a:rPr>
              <a:t>Pesticide</a:t>
            </a:r>
            <a:r>
              <a:rPr sz="3000" b="1" i="1" spc="-90" dirty="0">
                <a:latin typeface="Calibri"/>
                <a:cs typeface="Calibri"/>
              </a:rPr>
              <a:t> </a:t>
            </a:r>
            <a:r>
              <a:rPr sz="3000" b="1" i="1" spc="-10" dirty="0">
                <a:latin typeface="Calibri"/>
                <a:cs typeface="Calibri"/>
              </a:rPr>
              <a:t>causes: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cancer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cases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birth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defects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000" spc="-10" dirty="0">
                <a:latin typeface="Calibri"/>
                <a:cs typeface="Calibri"/>
              </a:rPr>
              <a:t>Allergies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1393825" algn="l"/>
                <a:tab pos="3012440" algn="l"/>
                <a:tab pos="3517900" algn="l"/>
                <a:tab pos="4221480" algn="l"/>
              </a:tabLst>
            </a:pPr>
            <a:r>
              <a:rPr sz="3000" spc="-10" dirty="0">
                <a:latin typeface="Calibri"/>
                <a:cs typeface="Calibri"/>
              </a:rPr>
              <a:t>other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disorders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of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the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nervous,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7444" y="3747770"/>
            <a:ext cx="20224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latin typeface="Calibri"/>
                <a:cs typeface="Calibri"/>
              </a:rPr>
              <a:t>neurological, hormone,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82440" y="3747770"/>
            <a:ext cx="209931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5600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latin typeface="Calibri"/>
                <a:cs typeface="Calibri"/>
              </a:rPr>
              <a:t>behavioral, reproductive,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4544" y="4662106"/>
            <a:ext cx="5472430" cy="1398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Calibri"/>
                <a:cs typeface="Calibri"/>
              </a:rPr>
              <a:t>endocrine,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immune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systems.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lower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sperm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counts</a:t>
            </a:r>
            <a:endParaRPr sz="3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3000" dirty="0">
                <a:latin typeface="Calibri"/>
                <a:cs typeface="Calibri"/>
              </a:rPr>
              <a:t>Intelligence</a:t>
            </a:r>
            <a:r>
              <a:rPr sz="3000" spc="-1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degradation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88480" y="1178560"/>
            <a:ext cx="2980055" cy="5504815"/>
            <a:chOff x="6888480" y="1178560"/>
            <a:chExt cx="2980055" cy="550481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21651" y="3392929"/>
              <a:ext cx="2729230" cy="62601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32320" y="1178560"/>
              <a:ext cx="2710179" cy="22199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8480" y="3774439"/>
              <a:ext cx="2903474" cy="28323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95160" y="3881120"/>
              <a:ext cx="2844800" cy="277368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980809" y="3866832"/>
              <a:ext cx="2873375" cy="2802255"/>
            </a:xfrm>
            <a:custGeom>
              <a:avLst/>
              <a:gdLst/>
              <a:ahLst/>
              <a:cxnLst/>
              <a:rect l="l" t="t" r="r" b="b"/>
              <a:pathLst>
                <a:path w="2873375" h="2802254">
                  <a:moveTo>
                    <a:pt x="0" y="2802254"/>
                  </a:moveTo>
                  <a:lnTo>
                    <a:pt x="2873375" y="2802254"/>
                  </a:lnTo>
                  <a:lnTo>
                    <a:pt x="2873375" y="0"/>
                  </a:lnTo>
                  <a:lnTo>
                    <a:pt x="0" y="0"/>
                  </a:lnTo>
                  <a:lnTo>
                    <a:pt x="0" y="2802254"/>
                  </a:lnTo>
                  <a:close/>
                </a:path>
              </a:pathLst>
            </a:custGeom>
            <a:ln w="28575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A59E1A09-4479-5B63-BA43-FC66061ED93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2730" y="4939029"/>
            <a:ext cx="5184140" cy="1384300"/>
          </a:xfrm>
          <a:custGeom>
            <a:avLst/>
            <a:gdLst/>
            <a:ahLst/>
            <a:cxnLst/>
            <a:rect l="l" t="t" r="r" b="b"/>
            <a:pathLst>
              <a:path w="5184140" h="1384300">
                <a:moveTo>
                  <a:pt x="5184140" y="0"/>
                </a:moveTo>
                <a:lnTo>
                  <a:pt x="0" y="0"/>
                </a:lnTo>
                <a:lnTo>
                  <a:pt x="0" y="1384300"/>
                </a:lnTo>
                <a:lnTo>
                  <a:pt x="5184140" y="1384300"/>
                </a:lnTo>
                <a:lnTo>
                  <a:pt x="51841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9565" y="185420"/>
            <a:ext cx="6570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Calibri"/>
                <a:cs typeface="Calibri"/>
              </a:rPr>
              <a:t>CONVENTIONAL</a:t>
            </a:r>
            <a:r>
              <a:rPr sz="3600" spc="-150" dirty="0">
                <a:latin typeface="Calibri"/>
                <a:cs typeface="Calibri"/>
              </a:rPr>
              <a:t> </a:t>
            </a:r>
            <a:r>
              <a:rPr sz="3600" spc="-25" dirty="0">
                <a:latin typeface="Calibri"/>
                <a:cs typeface="Calibri"/>
              </a:rPr>
              <a:t>FARMING:</a:t>
            </a:r>
            <a:r>
              <a:rPr sz="3600" spc="-13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Reality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2729" y="1131569"/>
            <a:ext cx="11493500" cy="955040"/>
          </a:xfrm>
          <a:prstGeom prst="rect">
            <a:avLst/>
          </a:prstGeom>
          <a:ln w="12700">
            <a:solidFill>
              <a:srgbClr val="FFC000"/>
            </a:solidFill>
          </a:ln>
        </p:spPr>
        <p:txBody>
          <a:bodyPr vert="horz" wrap="square" lIns="0" tIns="22225" rIns="0" bIns="0" rtlCol="0">
            <a:spAutoFit/>
          </a:bodyPr>
          <a:lstStyle/>
          <a:p>
            <a:pPr marL="89535" marR="83820">
              <a:lnSpc>
                <a:spcPct val="100000"/>
              </a:lnSpc>
              <a:spcBef>
                <a:spcPts val="175"/>
              </a:spcBef>
            </a:pPr>
            <a:r>
              <a:rPr sz="2800" dirty="0">
                <a:latin typeface="Calibri"/>
                <a:cs typeface="Calibri"/>
              </a:rPr>
              <a:t>B.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Pesticides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being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treat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insect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pest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infestations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gave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much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resistant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kinds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strains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pests.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2729" y="2523489"/>
            <a:ext cx="6111240" cy="1816100"/>
          </a:xfrm>
          <a:prstGeom prst="rect">
            <a:avLst/>
          </a:prstGeom>
          <a:ln w="12700">
            <a:solidFill>
              <a:srgbClr val="FFC000"/>
            </a:solidFill>
          </a:ln>
        </p:spPr>
        <p:txBody>
          <a:bodyPr vert="horz" wrap="square" lIns="0" tIns="21590" rIns="0" bIns="0" rtlCol="0">
            <a:spAutoFit/>
          </a:bodyPr>
          <a:lstStyle/>
          <a:p>
            <a:pPr marL="89535" marR="82550" algn="just">
              <a:lnSpc>
                <a:spcPct val="100000"/>
              </a:lnSpc>
              <a:spcBef>
                <a:spcPts val="170"/>
              </a:spcBef>
            </a:pPr>
            <a:r>
              <a:rPr sz="2800" dirty="0">
                <a:latin typeface="Calibri"/>
                <a:cs typeface="Calibri"/>
              </a:rPr>
              <a:t>C.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Commercial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chemicals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being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229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crop</a:t>
            </a:r>
            <a:r>
              <a:rPr sz="2800" spc="2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production</a:t>
            </a:r>
            <a:r>
              <a:rPr sz="2800" spc="22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contaminate </a:t>
            </a:r>
            <a:r>
              <a:rPr sz="2800" dirty="0">
                <a:latin typeface="Calibri"/>
                <a:cs typeface="Calibri"/>
              </a:rPr>
              <a:t>water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drinking,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including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rivers, </a:t>
            </a:r>
            <a:r>
              <a:rPr sz="2800" dirty="0">
                <a:latin typeface="Calibri"/>
                <a:cs typeface="Calibri"/>
              </a:rPr>
              <a:t>oceans,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bodies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water.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729" y="4939029"/>
            <a:ext cx="5184140" cy="1384300"/>
          </a:xfrm>
          <a:prstGeom prst="rect">
            <a:avLst/>
          </a:prstGeom>
          <a:ln w="12700">
            <a:solidFill>
              <a:srgbClr val="FFC000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89535" marR="78740" algn="just">
              <a:lnSpc>
                <a:spcPct val="100000"/>
              </a:lnSpc>
              <a:spcBef>
                <a:spcPts val="180"/>
              </a:spcBef>
            </a:pPr>
            <a:r>
              <a:rPr sz="2800" dirty="0">
                <a:latin typeface="Calibri"/>
                <a:cs typeface="Calibri"/>
              </a:rPr>
              <a:t>D.</a:t>
            </a:r>
            <a:r>
              <a:rPr sz="2800" spc="6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Conventional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farming</a:t>
            </a:r>
            <a:r>
              <a:rPr sz="2800" spc="6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through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1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chemical/commercial </a:t>
            </a:r>
            <a:r>
              <a:rPr sz="2800" spc="-20" dirty="0">
                <a:latin typeface="Calibri"/>
                <a:cs typeface="Calibri"/>
              </a:rPr>
              <a:t>fertilizers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causes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soil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degradation.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78101" y="2268678"/>
            <a:ext cx="1910910" cy="191957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6723832" y="2268685"/>
            <a:ext cx="3365500" cy="4099560"/>
            <a:chOff x="6723832" y="2268685"/>
            <a:chExt cx="3365500" cy="409956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6560" y="4315472"/>
              <a:ext cx="3322574" cy="205257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3832" y="2268685"/>
              <a:ext cx="2889868" cy="2016083"/>
            </a:xfrm>
            <a:prstGeom prst="rect">
              <a:avLst/>
            </a:prstGeom>
          </p:spPr>
        </p:pic>
      </p:grp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B7FBE9D-5F66-D4F3-486B-B203E40D7DC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9220" y="71119"/>
            <a:ext cx="7658100" cy="645160"/>
          </a:xfrm>
          <a:custGeom>
            <a:avLst/>
            <a:gdLst/>
            <a:ahLst/>
            <a:cxnLst/>
            <a:rect l="l" t="t" r="r" b="b"/>
            <a:pathLst>
              <a:path w="7658100" h="645160">
                <a:moveTo>
                  <a:pt x="7658100" y="0"/>
                </a:moveTo>
                <a:lnTo>
                  <a:pt x="0" y="0"/>
                </a:lnTo>
                <a:lnTo>
                  <a:pt x="0" y="645159"/>
                </a:lnTo>
                <a:lnTo>
                  <a:pt x="7658100" y="645159"/>
                </a:lnTo>
                <a:lnTo>
                  <a:pt x="76581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277" y="72771"/>
            <a:ext cx="4907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B.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Sustainable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452" y="1023620"/>
            <a:ext cx="8144509" cy="472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8630" indent="-45593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8630" algn="l"/>
              </a:tabLst>
            </a:pPr>
            <a:r>
              <a:rPr sz="2800" dirty="0">
                <a:latin typeface="Calibri"/>
                <a:cs typeface="Calibri"/>
              </a:rPr>
              <a:t>agricultural</a:t>
            </a:r>
            <a:r>
              <a:rPr sz="2800" spc="1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production</a:t>
            </a:r>
            <a:r>
              <a:rPr sz="2800" spc="1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12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viewed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105" dirty="0">
                <a:latin typeface="Calibri"/>
                <a:cs typeface="Calibri"/>
              </a:rPr>
              <a:t>  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469900" algn="just">
              <a:lnSpc>
                <a:spcPct val="100000"/>
              </a:lnSpc>
            </a:pPr>
            <a:r>
              <a:rPr sz="2800" b="1" spc="-20" dirty="0">
                <a:latin typeface="Calibri"/>
                <a:cs typeface="Calibri"/>
              </a:rPr>
              <a:t>whole-</a:t>
            </a:r>
            <a:r>
              <a:rPr sz="2800" b="1" dirty="0">
                <a:latin typeface="Calibri"/>
                <a:cs typeface="Calibri"/>
              </a:rPr>
              <a:t>systems</a:t>
            </a:r>
            <a:r>
              <a:rPr sz="2800" b="1" spc="-10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perspective.</a:t>
            </a:r>
            <a:endParaRPr sz="2800">
              <a:latin typeface="Calibri"/>
              <a:cs typeface="Calibri"/>
            </a:endParaRPr>
          </a:p>
          <a:p>
            <a:pPr marL="468630" indent="-455930" algn="just">
              <a:lnSpc>
                <a:spcPct val="100000"/>
              </a:lnSpc>
              <a:buFont typeface="Arial MT"/>
              <a:buChar char="•"/>
              <a:tabLst>
                <a:tab pos="468630" algn="l"/>
              </a:tabLst>
            </a:pPr>
            <a:r>
              <a:rPr sz="2800" dirty="0">
                <a:latin typeface="Calibri"/>
                <a:cs typeface="Calibri"/>
              </a:rPr>
              <a:t>producers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conduct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agricultural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activities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  <a:p>
            <a:pPr marL="469900" algn="just">
              <a:lnSpc>
                <a:spcPct val="100000"/>
              </a:lnSpc>
            </a:pPr>
            <a:r>
              <a:rPr sz="2800" b="1" dirty="0">
                <a:latin typeface="Calibri"/>
                <a:cs typeface="Calibri"/>
              </a:rPr>
              <a:t>harmony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with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-4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biosphere.</a:t>
            </a:r>
            <a:endParaRPr sz="2800">
              <a:latin typeface="Calibri"/>
              <a:cs typeface="Calibri"/>
            </a:endParaRPr>
          </a:p>
          <a:p>
            <a:pPr marL="468630" marR="9525" indent="-45593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b="1" dirty="0">
                <a:latin typeface="Calibri"/>
                <a:cs typeface="Calibri"/>
              </a:rPr>
              <a:t>t</a:t>
            </a:r>
            <a:r>
              <a:rPr sz="2800" dirty="0">
                <a:latin typeface="Calibri"/>
                <a:cs typeface="Calibri"/>
              </a:rPr>
              <a:t>he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natural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resource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agricultural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production 	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conserved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protected;</a:t>
            </a:r>
            <a:endParaRPr sz="2800">
              <a:latin typeface="Calibri"/>
              <a:cs typeface="Calibri"/>
            </a:endParaRPr>
          </a:p>
          <a:p>
            <a:pPr marL="468630" indent="-455930" algn="just">
              <a:lnSpc>
                <a:spcPts val="3360"/>
              </a:lnSpc>
              <a:buFont typeface="Arial MT"/>
              <a:buChar char="•"/>
              <a:tabLst>
                <a:tab pos="46863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environment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protected.</a:t>
            </a:r>
            <a:endParaRPr sz="2800">
              <a:latin typeface="Calibri"/>
              <a:cs typeface="Calibri"/>
            </a:endParaRPr>
          </a:p>
          <a:p>
            <a:pPr marL="468630" marR="5080" indent="-455930" algn="just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3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producer,</a:t>
            </a:r>
            <a:r>
              <a:rPr sz="2800" spc="3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focuses</a:t>
            </a:r>
            <a:r>
              <a:rPr sz="2800" spc="3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3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390" dirty="0">
                <a:latin typeface="Calibri"/>
                <a:cs typeface="Calibri"/>
              </a:rPr>
              <a:t>  </a:t>
            </a:r>
            <a:r>
              <a:rPr sz="2800" b="1" dirty="0">
                <a:latin typeface="Calibri"/>
                <a:cs typeface="Calibri"/>
              </a:rPr>
              <a:t>managing</a:t>
            </a:r>
            <a:r>
              <a:rPr sz="2800" b="1" spc="390" dirty="0">
                <a:latin typeface="Calibri"/>
                <a:cs typeface="Calibri"/>
              </a:rPr>
              <a:t>  </a:t>
            </a:r>
            <a:r>
              <a:rPr sz="2800" b="1" spc="-25" dirty="0">
                <a:latin typeface="Calibri"/>
                <a:cs typeface="Calibri"/>
              </a:rPr>
              <a:t>the 	</a:t>
            </a:r>
            <a:r>
              <a:rPr sz="2800" b="1" dirty="0">
                <a:latin typeface="Calibri"/>
                <a:cs typeface="Calibri"/>
              </a:rPr>
              <a:t>internal</a:t>
            </a:r>
            <a:r>
              <a:rPr sz="2800" b="1" spc="4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resources</a:t>
            </a:r>
            <a:r>
              <a:rPr sz="2800" b="1" spc="509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(natural</a:t>
            </a:r>
            <a:r>
              <a:rPr sz="2800" b="1" spc="49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resources)</a:t>
            </a:r>
            <a:r>
              <a:rPr sz="2800" b="1" spc="5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farm 	</a:t>
            </a:r>
            <a:r>
              <a:rPr sz="2800" dirty="0">
                <a:latin typeface="Calibri"/>
                <a:cs typeface="Calibri"/>
              </a:rPr>
              <a:t>(or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agroecosystem)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rather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 production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inputs 	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purchased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introduced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production.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21700" y="1082039"/>
            <a:ext cx="3561079" cy="26695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21700" y="3881120"/>
            <a:ext cx="3561079" cy="266954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B2E703D-8053-6F99-7A60-A15DDD61B4E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00" y="137160"/>
            <a:ext cx="7658100" cy="64516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1460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4"/>
              </a:spcBef>
            </a:pPr>
            <a:r>
              <a:rPr sz="3600" dirty="0">
                <a:latin typeface="Calibri"/>
                <a:cs typeface="Calibri"/>
              </a:rPr>
              <a:t>B.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Sustainable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1465" y="1846834"/>
            <a:ext cx="11694160" cy="4142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834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seeks</a:t>
            </a:r>
            <a:r>
              <a:rPr sz="3000" spc="2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26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increase</a:t>
            </a:r>
            <a:r>
              <a:rPr sz="3000" b="1" spc="27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crop</a:t>
            </a:r>
            <a:r>
              <a:rPr sz="3000" b="1" spc="280" dirty="0">
                <a:latin typeface="Calibri"/>
                <a:cs typeface="Calibri"/>
              </a:rPr>
              <a:t> </a:t>
            </a:r>
            <a:r>
              <a:rPr sz="3000" b="1" dirty="0">
                <a:latin typeface="Calibri"/>
                <a:cs typeface="Calibri"/>
              </a:rPr>
              <a:t>productivity</a:t>
            </a:r>
            <a:r>
              <a:rPr sz="3000" b="1" spc="2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without</a:t>
            </a:r>
            <a:r>
              <a:rPr sz="3000" spc="2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2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adverse</a:t>
            </a:r>
            <a:r>
              <a:rPr sz="3000" spc="25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effects</a:t>
            </a:r>
            <a:r>
              <a:rPr sz="3000" spc="2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26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environment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society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as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whole.</a:t>
            </a:r>
            <a:endParaRPr sz="3000">
              <a:latin typeface="Calibri"/>
              <a:cs typeface="Calibri"/>
            </a:endParaRPr>
          </a:p>
          <a:p>
            <a:pPr marL="469900" marR="5080" indent="-457834" algn="just">
              <a:lnSpc>
                <a:spcPct val="100000"/>
              </a:lnSpc>
              <a:buFont typeface="Arial MT"/>
              <a:buChar char="•"/>
              <a:tabLst>
                <a:tab pos="469900" algn="l"/>
              </a:tabLst>
            </a:pPr>
            <a:r>
              <a:rPr sz="3000" dirty="0">
                <a:latin typeface="Calibri"/>
                <a:cs typeface="Calibri"/>
              </a:rPr>
              <a:t>Since</a:t>
            </a:r>
            <a:r>
              <a:rPr sz="3000" spc="6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this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6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6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concept</a:t>
            </a:r>
            <a:r>
              <a:rPr sz="3000" spc="6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that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emphasizes</a:t>
            </a:r>
            <a:r>
              <a:rPr sz="3000" spc="6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goal</a:t>
            </a:r>
            <a:r>
              <a:rPr sz="3000" spc="6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rather</a:t>
            </a:r>
            <a:r>
              <a:rPr sz="3000" spc="6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than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6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set</a:t>
            </a:r>
            <a:r>
              <a:rPr sz="3000" spc="63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practices,</a:t>
            </a:r>
            <a:r>
              <a:rPr sz="3000" spc="275" dirty="0">
                <a:latin typeface="Calibri"/>
                <a:cs typeface="Calibri"/>
              </a:rPr>
              <a:t>   </a:t>
            </a:r>
            <a:r>
              <a:rPr sz="3000" dirty="0">
                <a:latin typeface="Calibri"/>
                <a:cs typeface="Calibri"/>
              </a:rPr>
              <a:t>producers</a:t>
            </a:r>
            <a:r>
              <a:rPr sz="3000" spc="280" dirty="0">
                <a:latin typeface="Calibri"/>
                <a:cs typeface="Calibri"/>
              </a:rPr>
              <a:t>   </a:t>
            </a:r>
            <a:r>
              <a:rPr sz="3000" dirty="0">
                <a:latin typeface="Calibri"/>
                <a:cs typeface="Calibri"/>
              </a:rPr>
              <a:t>adopt</a:t>
            </a:r>
            <a:r>
              <a:rPr sz="3000" spc="74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various</a:t>
            </a:r>
            <a:r>
              <a:rPr sz="3000" spc="280" dirty="0">
                <a:latin typeface="Calibri"/>
                <a:cs typeface="Calibri"/>
              </a:rPr>
              <a:t>   </a:t>
            </a:r>
            <a:r>
              <a:rPr sz="3000" spc="-30" dirty="0">
                <a:latin typeface="Calibri"/>
                <a:cs typeface="Calibri"/>
              </a:rPr>
              <a:t>farm-</a:t>
            </a:r>
            <a:r>
              <a:rPr sz="3000" dirty="0">
                <a:latin typeface="Calibri"/>
                <a:cs typeface="Calibri"/>
              </a:rPr>
              <a:t>based</a:t>
            </a:r>
            <a:r>
              <a:rPr sz="3000" spc="275" dirty="0">
                <a:latin typeface="Calibri"/>
                <a:cs typeface="Calibri"/>
              </a:rPr>
              <a:t>   </a:t>
            </a:r>
            <a:r>
              <a:rPr sz="3000" dirty="0">
                <a:latin typeface="Calibri"/>
                <a:cs typeface="Calibri"/>
              </a:rPr>
              <a:t>innovations</a:t>
            </a:r>
            <a:r>
              <a:rPr sz="3000" spc="275" dirty="0">
                <a:latin typeface="Calibri"/>
                <a:cs typeface="Calibri"/>
              </a:rPr>
              <a:t>   </a:t>
            </a:r>
            <a:r>
              <a:rPr sz="3000" spc="-25" dirty="0">
                <a:latin typeface="Calibri"/>
                <a:cs typeface="Calibri"/>
              </a:rPr>
              <a:t>to </a:t>
            </a:r>
            <a:r>
              <a:rPr sz="3000" dirty="0">
                <a:latin typeface="Calibri"/>
                <a:cs typeface="Calibri"/>
              </a:rPr>
              <a:t>accomplish</a:t>
            </a:r>
            <a:r>
              <a:rPr sz="3000" spc="18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17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general</a:t>
            </a:r>
            <a:r>
              <a:rPr sz="3000" spc="18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goal.</a:t>
            </a:r>
            <a:r>
              <a:rPr sz="3000" spc="17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18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innovative</a:t>
            </a:r>
            <a:r>
              <a:rPr sz="3000" spc="17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aspect</a:t>
            </a:r>
            <a:r>
              <a:rPr sz="3000" spc="17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175" dirty="0">
                <a:latin typeface="Calibri"/>
                <a:cs typeface="Calibri"/>
              </a:rPr>
              <a:t>  </a:t>
            </a:r>
            <a:r>
              <a:rPr sz="3000" spc="-10" dirty="0">
                <a:latin typeface="Calibri"/>
                <a:cs typeface="Calibri"/>
              </a:rPr>
              <a:t>sustainable </a:t>
            </a:r>
            <a:r>
              <a:rPr sz="3000" dirty="0">
                <a:latin typeface="Calibri"/>
                <a:cs typeface="Calibri"/>
              </a:rPr>
              <a:t>agriculture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comes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about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because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there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no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correct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way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to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arrive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at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4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general</a:t>
            </a:r>
            <a:r>
              <a:rPr sz="3000" spc="4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goal.</a:t>
            </a:r>
            <a:r>
              <a:rPr sz="3000" spc="4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This</a:t>
            </a:r>
            <a:r>
              <a:rPr sz="3000" spc="43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43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because</a:t>
            </a:r>
            <a:r>
              <a:rPr sz="3000" spc="4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each</a:t>
            </a:r>
            <a:r>
              <a:rPr sz="3000" spc="4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producer’s</a:t>
            </a:r>
            <a:r>
              <a:rPr sz="3000" spc="4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farming</a:t>
            </a:r>
            <a:r>
              <a:rPr sz="3000" spc="4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situation</a:t>
            </a:r>
            <a:r>
              <a:rPr sz="3000" spc="434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is </a:t>
            </a:r>
            <a:r>
              <a:rPr sz="3000" dirty="0">
                <a:latin typeface="Calibri"/>
                <a:cs typeface="Calibri"/>
              </a:rPr>
              <a:t>different,</a:t>
            </a:r>
            <a:r>
              <a:rPr sz="3000" spc="50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regarding</a:t>
            </a:r>
            <a:r>
              <a:rPr sz="3000" spc="520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soils,</a:t>
            </a:r>
            <a:r>
              <a:rPr sz="3000" spc="509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climate,</a:t>
            </a:r>
            <a:r>
              <a:rPr sz="3000" spc="515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cropping</a:t>
            </a:r>
            <a:r>
              <a:rPr sz="3000" spc="509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system,</a:t>
            </a:r>
            <a:r>
              <a:rPr sz="3000" spc="509" dirty="0">
                <a:latin typeface="Calibri"/>
                <a:cs typeface="Calibri"/>
              </a:rPr>
              <a:t>  </a:t>
            </a:r>
            <a:r>
              <a:rPr sz="3000" dirty="0">
                <a:latin typeface="Calibri"/>
                <a:cs typeface="Calibri"/>
              </a:rPr>
              <a:t>method</a:t>
            </a:r>
            <a:r>
              <a:rPr sz="3000" spc="520" dirty="0">
                <a:latin typeface="Calibri"/>
                <a:cs typeface="Calibri"/>
              </a:rPr>
              <a:t>  </a:t>
            </a:r>
            <a:r>
              <a:rPr sz="3000" spc="-25" dirty="0">
                <a:latin typeface="Calibri"/>
                <a:cs typeface="Calibri"/>
              </a:rPr>
              <a:t>of </a:t>
            </a:r>
            <a:r>
              <a:rPr sz="3000" dirty="0">
                <a:latin typeface="Calibri"/>
                <a:cs typeface="Calibri"/>
              </a:rPr>
              <a:t>production,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market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needs.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9C33D-3098-0252-A34E-5943A9967FA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00" y="137160"/>
            <a:ext cx="11165840" cy="64516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460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4"/>
              </a:spcBef>
            </a:pPr>
            <a:r>
              <a:rPr sz="3600" spc="-20" dirty="0">
                <a:latin typeface="Calibri"/>
                <a:cs typeface="Calibri"/>
              </a:rPr>
              <a:t>HISTORICAL</a:t>
            </a:r>
            <a:r>
              <a:rPr sz="3600" spc="-1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ROOTS</a:t>
            </a:r>
            <a:r>
              <a:rPr sz="3600" spc="-1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135" dirty="0">
                <a:latin typeface="Calibri"/>
                <a:cs typeface="Calibri"/>
              </a:rPr>
              <a:t> </a:t>
            </a:r>
            <a:r>
              <a:rPr sz="3600" spc="-30" dirty="0">
                <a:latin typeface="Calibri"/>
                <a:cs typeface="Calibri"/>
              </a:rPr>
              <a:t>SUSTAINABLE</a:t>
            </a:r>
            <a:r>
              <a:rPr sz="3600" spc="-12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940" y="964946"/>
            <a:ext cx="11697970" cy="5574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7995" marR="5080" indent="-45593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early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beginnings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Europe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during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post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WW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years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factories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 	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1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manufacture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explosives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Europe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were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transformed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into 	</a:t>
            </a:r>
            <a:r>
              <a:rPr sz="2800" dirty="0">
                <a:latin typeface="Calibri"/>
                <a:cs typeface="Calibri"/>
              </a:rPr>
              <a:t>factories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manufacture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fertilizers.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early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beginnings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traced 	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Dr.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Rudolf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Steiner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who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introduced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biodynamic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agriculture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founded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Anthroposophical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Society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Germany.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movement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later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banned 	</a:t>
            </a:r>
            <a:r>
              <a:rPr sz="2800" dirty="0">
                <a:latin typeface="Calibri"/>
                <a:cs typeface="Calibri"/>
              </a:rPr>
              <a:t>during</a:t>
            </a:r>
            <a:r>
              <a:rPr sz="2800" spc="1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Hitler’s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regime</a:t>
            </a:r>
            <a:r>
              <a:rPr sz="2800" spc="1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another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movement</a:t>
            </a:r>
            <a:r>
              <a:rPr sz="2800" spc="1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soon</a:t>
            </a:r>
            <a:r>
              <a:rPr sz="2800" spc="10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followed</a:t>
            </a:r>
            <a:r>
              <a:rPr sz="2800" spc="11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France, 	</a:t>
            </a:r>
            <a:r>
              <a:rPr sz="2800" dirty="0">
                <a:latin typeface="Calibri"/>
                <a:cs typeface="Calibri"/>
              </a:rPr>
              <a:t>England</a:t>
            </a:r>
            <a:r>
              <a:rPr sz="2800" spc="2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Switzerland</a:t>
            </a:r>
            <a:r>
              <a:rPr sz="2800" spc="2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when</a:t>
            </a:r>
            <a:r>
              <a:rPr sz="2800" spc="2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pioneers</a:t>
            </a:r>
            <a:r>
              <a:rPr sz="2800" spc="2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Howard,</a:t>
            </a:r>
            <a:r>
              <a:rPr sz="2800" spc="2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Balfour,</a:t>
            </a:r>
            <a:r>
              <a:rPr sz="2800" spc="2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8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Muller 	</a:t>
            </a:r>
            <a:r>
              <a:rPr sz="2800" dirty="0">
                <a:latin typeface="Calibri"/>
                <a:cs typeface="Calibri"/>
              </a:rPr>
              <a:t>introduced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Bio-</a:t>
            </a:r>
            <a:r>
              <a:rPr sz="2800" dirty="0">
                <a:latin typeface="Calibri"/>
                <a:cs typeface="Calibri"/>
              </a:rPr>
              <a:t>intensive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French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method,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ecological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farming,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etc.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Soon 	</a:t>
            </a:r>
            <a:r>
              <a:rPr sz="2800" dirty="0">
                <a:latin typeface="Calibri"/>
                <a:cs typeface="Calibri"/>
              </a:rPr>
              <a:t>similar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initiatives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parts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world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followed,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e.g.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natural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farming 	</a:t>
            </a:r>
            <a:r>
              <a:rPr sz="2800" dirty="0">
                <a:latin typeface="Calibri"/>
                <a:cs typeface="Calibri"/>
              </a:rPr>
              <a:t>was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introduced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M.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Fukuoka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Japan,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introduction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Dr.</a:t>
            </a:r>
            <a:r>
              <a:rPr sz="2800" spc="3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Conklin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spc="-20" dirty="0">
                <a:latin typeface="Calibri"/>
                <a:cs typeface="Calibri"/>
              </a:rPr>
              <a:t>agro-</a:t>
            </a:r>
            <a:r>
              <a:rPr sz="2800" dirty="0">
                <a:latin typeface="Calibri"/>
                <a:cs typeface="Calibri"/>
              </a:rPr>
              <a:t>forestry,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organic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agriculture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Canada,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“permaculture”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dirty="0">
                <a:latin typeface="Calibri"/>
                <a:cs typeface="Calibri"/>
              </a:rPr>
              <a:t>Australia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4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4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recently,</a:t>
            </a:r>
            <a:r>
              <a:rPr sz="2800" spc="4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community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ecology,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originated</a:t>
            </a:r>
            <a:r>
              <a:rPr sz="2800" spc="4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Latin 	America.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574FE-6A37-9DCF-2A4D-F293079D507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200" y="137160"/>
            <a:ext cx="11165840" cy="64516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460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14"/>
              </a:spcBef>
            </a:pPr>
            <a:r>
              <a:rPr sz="3600" spc="-20" dirty="0">
                <a:latin typeface="Calibri"/>
                <a:cs typeface="Calibri"/>
              </a:rPr>
              <a:t>HISTORICAL</a:t>
            </a:r>
            <a:r>
              <a:rPr sz="3600" spc="-1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ROOTS</a:t>
            </a:r>
            <a:r>
              <a:rPr sz="3600" spc="-11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135" dirty="0">
                <a:latin typeface="Calibri"/>
                <a:cs typeface="Calibri"/>
              </a:rPr>
              <a:t> </a:t>
            </a:r>
            <a:r>
              <a:rPr sz="3600" spc="-30" dirty="0">
                <a:latin typeface="Calibri"/>
                <a:cs typeface="Calibri"/>
              </a:rPr>
              <a:t>SUSTAINABLE</a:t>
            </a:r>
            <a:r>
              <a:rPr sz="3600" spc="-12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1940" y="964946"/>
            <a:ext cx="11696700" cy="17329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2800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1972,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leaders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representatives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movements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came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together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organize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themselves</a:t>
            </a:r>
            <a:r>
              <a:rPr sz="2800" spc="1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into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now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known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International</a:t>
            </a:r>
            <a:r>
              <a:rPr sz="2800" spc="1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Federation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Organic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Agriculture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Movements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(IFOAM).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‘sustainable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agriculture’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then </a:t>
            </a:r>
            <a:r>
              <a:rPr sz="2800" dirty="0">
                <a:latin typeface="Calibri"/>
                <a:cs typeface="Calibri"/>
              </a:rPr>
              <a:t>became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reference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among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members.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3200" y="2844800"/>
            <a:ext cx="7658100" cy="64516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65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30"/>
              </a:spcBef>
            </a:pPr>
            <a:r>
              <a:rPr sz="3600" b="1" dirty="0">
                <a:latin typeface="Calibri"/>
                <a:cs typeface="Calibri"/>
              </a:rPr>
              <a:t>Roots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in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the</a:t>
            </a:r>
            <a:r>
              <a:rPr sz="3600" b="1" spc="-8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Philippines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940" y="3616959"/>
            <a:ext cx="11697970" cy="312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28040" algn="just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Calibri"/>
                <a:cs typeface="Calibri"/>
              </a:rPr>
              <a:t>The</a:t>
            </a:r>
            <a:r>
              <a:rPr sz="2900" spc="6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idea</a:t>
            </a:r>
            <a:r>
              <a:rPr sz="2900" spc="69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of</a:t>
            </a:r>
            <a:r>
              <a:rPr sz="2900" spc="69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sustainable</a:t>
            </a:r>
            <a:r>
              <a:rPr sz="2900" spc="69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agriculture</a:t>
            </a:r>
            <a:r>
              <a:rPr sz="2900" spc="69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came</a:t>
            </a:r>
            <a:r>
              <a:rPr sz="2900" spc="68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to</a:t>
            </a:r>
            <a:r>
              <a:rPr sz="2900" spc="69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70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Philippines</a:t>
            </a:r>
            <a:r>
              <a:rPr sz="2900" spc="69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through </a:t>
            </a:r>
            <a:r>
              <a:rPr sz="2900" dirty="0">
                <a:latin typeface="Calibri"/>
                <a:cs typeface="Calibri"/>
              </a:rPr>
              <a:t>various</a:t>
            </a:r>
            <a:r>
              <a:rPr sz="2900" spc="14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means.</a:t>
            </a:r>
            <a:r>
              <a:rPr sz="2900" spc="15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Filipinos</a:t>
            </a:r>
            <a:r>
              <a:rPr sz="2900" spc="15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who</a:t>
            </a:r>
            <a:r>
              <a:rPr sz="2900" spc="14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have</a:t>
            </a:r>
            <a:r>
              <a:rPr sz="2900" spc="14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had</a:t>
            </a:r>
            <a:r>
              <a:rPr sz="2900" spc="13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links</a:t>
            </a:r>
            <a:r>
              <a:rPr sz="2900" spc="13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with</a:t>
            </a:r>
            <a:r>
              <a:rPr sz="2900" spc="15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14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different</a:t>
            </a:r>
            <a:r>
              <a:rPr sz="2900" spc="145" dirty="0">
                <a:latin typeface="Calibri"/>
                <a:cs typeface="Calibri"/>
              </a:rPr>
              <a:t>  </a:t>
            </a:r>
            <a:r>
              <a:rPr sz="2900" spc="-10" dirty="0">
                <a:latin typeface="Calibri"/>
                <a:cs typeface="Calibri"/>
              </a:rPr>
              <a:t>organic </a:t>
            </a:r>
            <a:r>
              <a:rPr sz="2900" dirty="0">
                <a:latin typeface="Calibri"/>
                <a:cs typeface="Calibri"/>
              </a:rPr>
              <a:t>agriculture</a:t>
            </a:r>
            <a:r>
              <a:rPr sz="2900" spc="13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movements</a:t>
            </a:r>
            <a:r>
              <a:rPr sz="2900" spc="14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abroad</a:t>
            </a:r>
            <a:r>
              <a:rPr sz="2900" spc="12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initially</a:t>
            </a:r>
            <a:r>
              <a:rPr sz="2900" spc="13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brought</a:t>
            </a:r>
            <a:r>
              <a:rPr sz="2900" spc="14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back</a:t>
            </a:r>
            <a:r>
              <a:rPr sz="2900" spc="13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13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ideas</a:t>
            </a:r>
            <a:r>
              <a:rPr sz="2900" spc="14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into</a:t>
            </a:r>
            <a:r>
              <a:rPr sz="2900" spc="135" dirty="0">
                <a:latin typeface="Calibri"/>
                <a:cs typeface="Calibri"/>
              </a:rPr>
              <a:t>  </a:t>
            </a:r>
            <a:r>
              <a:rPr sz="2900" spc="-25" dirty="0">
                <a:latin typeface="Calibri"/>
                <a:cs typeface="Calibri"/>
              </a:rPr>
              <a:t>the </a:t>
            </a:r>
            <a:r>
              <a:rPr sz="2900" dirty="0">
                <a:latin typeface="Calibri"/>
                <a:cs typeface="Calibri"/>
              </a:rPr>
              <a:t>country.</a:t>
            </a:r>
            <a:r>
              <a:rPr sz="2900" spc="58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International</a:t>
            </a:r>
            <a:r>
              <a:rPr sz="2900" spc="58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NGOs</a:t>
            </a:r>
            <a:r>
              <a:rPr sz="2900" spc="59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56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volunteer</a:t>
            </a:r>
            <a:r>
              <a:rPr sz="2900" spc="58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organizations</a:t>
            </a:r>
            <a:r>
              <a:rPr sz="2900" spc="585" dirty="0">
                <a:latin typeface="Calibri"/>
                <a:cs typeface="Calibri"/>
              </a:rPr>
              <a:t>  </a:t>
            </a:r>
            <a:r>
              <a:rPr sz="2900" spc="-10" dirty="0">
                <a:latin typeface="Calibri"/>
                <a:cs typeface="Calibri"/>
              </a:rPr>
              <a:t>introduced </a:t>
            </a:r>
            <a:r>
              <a:rPr sz="2900" dirty="0">
                <a:latin typeface="Calibri"/>
                <a:cs typeface="Calibri"/>
              </a:rPr>
              <a:t>sustainable</a:t>
            </a:r>
            <a:r>
              <a:rPr sz="2900" spc="3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agriculture</a:t>
            </a:r>
            <a:r>
              <a:rPr sz="2900" spc="3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to</a:t>
            </a:r>
            <a:r>
              <a:rPr sz="2900" spc="3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farmers</a:t>
            </a:r>
            <a:r>
              <a:rPr sz="2900" spc="3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in</a:t>
            </a:r>
            <a:r>
              <a:rPr sz="2900" spc="3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3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different</a:t>
            </a:r>
            <a:r>
              <a:rPr sz="2900" spc="38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communities</a:t>
            </a:r>
            <a:r>
              <a:rPr sz="2900" spc="3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where</a:t>
            </a:r>
            <a:r>
              <a:rPr sz="2900" spc="365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they </a:t>
            </a:r>
            <a:r>
              <a:rPr sz="2900" dirty="0">
                <a:latin typeface="Calibri"/>
                <a:cs typeface="Calibri"/>
              </a:rPr>
              <a:t>were</a:t>
            </a:r>
            <a:r>
              <a:rPr sz="2900" spc="5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assigned.</a:t>
            </a:r>
            <a:r>
              <a:rPr sz="2900" spc="5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In</a:t>
            </a:r>
            <a:r>
              <a:rPr sz="2900" spc="5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5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late</a:t>
            </a:r>
            <a:r>
              <a:rPr sz="2900" spc="5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1950s,</a:t>
            </a:r>
            <a:r>
              <a:rPr sz="2900" spc="5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Dr.</a:t>
            </a:r>
            <a:r>
              <a:rPr sz="2900" spc="5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Harold</a:t>
            </a:r>
            <a:r>
              <a:rPr sz="2900" spc="5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Conklin</a:t>
            </a:r>
            <a:r>
              <a:rPr sz="2900" spc="5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published</a:t>
            </a:r>
            <a:r>
              <a:rPr sz="2900" spc="5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a</a:t>
            </a:r>
            <a:r>
              <a:rPr sz="2900" spc="50" dirty="0">
                <a:latin typeface="Calibri"/>
                <a:cs typeface="Calibri"/>
              </a:rPr>
              <a:t>  </a:t>
            </a:r>
            <a:r>
              <a:rPr sz="2900" spc="-10" dirty="0">
                <a:latin typeface="Calibri"/>
                <a:cs typeface="Calibri"/>
              </a:rPr>
              <a:t>report regarding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his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findings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with</a:t>
            </a:r>
            <a:r>
              <a:rPr sz="2900" spc="-8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Mangyan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Hanunuo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agriculture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in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Mindoro.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This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12F0A-7672-848A-9C0B-AD76B714FB7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520" y="157479"/>
            <a:ext cx="7658100" cy="64516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524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20"/>
              </a:spcBef>
            </a:pPr>
            <a:r>
              <a:rPr sz="3600" dirty="0">
                <a:latin typeface="Calibri"/>
                <a:cs typeface="Calibri"/>
              </a:rPr>
              <a:t>Roots</a:t>
            </a:r>
            <a:r>
              <a:rPr sz="3600" spc="-7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the</a:t>
            </a:r>
            <a:r>
              <a:rPr sz="3600" spc="-8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Philippines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0990" y="928370"/>
            <a:ext cx="11698605" cy="1351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latin typeface="Calibri"/>
                <a:cs typeface="Calibri"/>
              </a:rPr>
              <a:t>introduced</a:t>
            </a:r>
            <a:r>
              <a:rPr sz="2900" spc="1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sustainable</a:t>
            </a:r>
            <a:r>
              <a:rPr sz="2900" spc="150" dirty="0">
                <a:latin typeface="Calibri"/>
                <a:cs typeface="Calibri"/>
              </a:rPr>
              <a:t> </a:t>
            </a:r>
            <a:r>
              <a:rPr sz="2900" spc="-15" dirty="0">
                <a:latin typeface="Calibri"/>
                <a:cs typeface="Calibri"/>
              </a:rPr>
              <a:t>agro-</a:t>
            </a:r>
            <a:r>
              <a:rPr sz="2900" dirty="0">
                <a:latin typeface="Calibri"/>
                <a:cs typeface="Calibri"/>
              </a:rPr>
              <a:t>forestry</a:t>
            </a:r>
            <a:r>
              <a:rPr sz="2900" spc="14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in</a:t>
            </a:r>
            <a:r>
              <a:rPr sz="2900" spc="13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13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country</a:t>
            </a:r>
            <a:r>
              <a:rPr sz="2900" spc="1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1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elsewhere</a:t>
            </a:r>
            <a:r>
              <a:rPr sz="2900" spc="10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in</a:t>
            </a:r>
            <a:r>
              <a:rPr sz="2900" spc="1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Asia.</a:t>
            </a:r>
            <a:r>
              <a:rPr sz="2900" spc="140" dirty="0">
                <a:latin typeface="Calibri"/>
                <a:cs typeface="Calibri"/>
              </a:rPr>
              <a:t> </a:t>
            </a:r>
            <a:r>
              <a:rPr sz="2900" spc="-25" dirty="0">
                <a:latin typeface="Calibri"/>
                <a:cs typeface="Calibri"/>
              </a:rPr>
              <a:t>In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4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late</a:t>
            </a:r>
            <a:r>
              <a:rPr sz="2900" spc="4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1970s,</a:t>
            </a:r>
            <a:r>
              <a:rPr sz="2900" spc="44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local</a:t>
            </a:r>
            <a:r>
              <a:rPr sz="2900" spc="4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NGOs</a:t>
            </a:r>
            <a:r>
              <a:rPr sz="2900" spc="45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and</a:t>
            </a:r>
            <a:r>
              <a:rPr sz="2900" spc="42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farmers’</a:t>
            </a:r>
            <a:r>
              <a:rPr sz="2900" spc="42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organizations</a:t>
            </a:r>
            <a:r>
              <a:rPr sz="2900" spc="44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became</a:t>
            </a:r>
            <a:r>
              <a:rPr sz="2900" spc="4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45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leading advocates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of</a:t>
            </a:r>
            <a:r>
              <a:rPr sz="2900" spc="-8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sustainable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agriculture</a:t>
            </a:r>
            <a:r>
              <a:rPr sz="2900" spc="-8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throughout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-10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archipelago.</a:t>
            </a:r>
            <a:endParaRPr sz="29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136639"/>
            <a:ext cx="12191999" cy="72135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FEAD9-0B50-C665-DD4C-579A4388B3B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520" y="414019"/>
            <a:ext cx="9288780" cy="64516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397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10"/>
              </a:spcBef>
            </a:pPr>
            <a:r>
              <a:rPr sz="3600" spc="-10" dirty="0">
                <a:latin typeface="Calibri"/>
                <a:cs typeface="Calibri"/>
              </a:rPr>
              <a:t>Features/Dimensions</a:t>
            </a:r>
            <a:r>
              <a:rPr sz="3600" spc="-1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13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Sustainable</a:t>
            </a:r>
            <a:r>
              <a:rPr sz="3600" spc="-12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0990" y="1450657"/>
            <a:ext cx="7729220" cy="450850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528320" indent="-515620">
              <a:lnSpc>
                <a:spcPct val="100000"/>
              </a:lnSpc>
              <a:spcBef>
                <a:spcPts val="1540"/>
              </a:spcBef>
              <a:buAutoNum type="arabicPeriod"/>
              <a:tabLst>
                <a:tab pos="528320" algn="l"/>
              </a:tabLst>
            </a:pPr>
            <a:r>
              <a:rPr sz="3000" spc="-10" dirty="0">
                <a:latin typeface="Calibri"/>
                <a:cs typeface="Calibri"/>
              </a:rPr>
              <a:t>Ecologically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sound</a:t>
            </a:r>
            <a:endParaRPr sz="3000">
              <a:latin typeface="Calibri"/>
              <a:cs typeface="Calibri"/>
            </a:endParaRPr>
          </a:p>
          <a:p>
            <a:pPr marL="528320" indent="-51562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528320" algn="l"/>
              </a:tabLst>
            </a:pPr>
            <a:r>
              <a:rPr sz="3000" spc="-10" dirty="0">
                <a:latin typeface="Calibri"/>
                <a:cs typeface="Calibri"/>
              </a:rPr>
              <a:t>Economically</a:t>
            </a:r>
            <a:r>
              <a:rPr sz="3000" spc="-11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viable</a:t>
            </a:r>
            <a:endParaRPr sz="3000">
              <a:latin typeface="Calibri"/>
              <a:cs typeface="Calibri"/>
            </a:endParaRPr>
          </a:p>
          <a:p>
            <a:pPr marL="528320" indent="-51562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528320" algn="l"/>
              </a:tabLst>
            </a:pPr>
            <a:r>
              <a:rPr sz="3000" dirty="0">
                <a:latin typeface="Calibri"/>
                <a:cs typeface="Calibri"/>
              </a:rPr>
              <a:t>Socially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just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equitable,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humane</a:t>
            </a:r>
            <a:endParaRPr sz="3000">
              <a:latin typeface="Calibri"/>
              <a:cs typeface="Calibri"/>
            </a:endParaRPr>
          </a:p>
          <a:p>
            <a:pPr marL="528320" indent="-51562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528320" algn="l"/>
              </a:tabLst>
            </a:pPr>
            <a:r>
              <a:rPr sz="3000" dirty="0">
                <a:latin typeface="Calibri"/>
                <a:cs typeface="Calibri"/>
              </a:rPr>
              <a:t>Culturally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appropriate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sensitive</a:t>
            </a:r>
            <a:endParaRPr sz="3000">
              <a:latin typeface="Calibri"/>
              <a:cs typeface="Calibri"/>
            </a:endParaRPr>
          </a:p>
          <a:p>
            <a:pPr marL="528320" indent="-51562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528320" algn="l"/>
              </a:tabLst>
            </a:pPr>
            <a:r>
              <a:rPr sz="3000" dirty="0">
                <a:latin typeface="Calibri"/>
                <a:cs typeface="Calibri"/>
              </a:rPr>
              <a:t>Grounded</a:t>
            </a:r>
            <a:r>
              <a:rPr sz="3000" spc="-114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8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holistic</a:t>
            </a:r>
            <a:r>
              <a:rPr sz="3000" spc="-9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science</a:t>
            </a:r>
            <a:endParaRPr sz="3000">
              <a:latin typeface="Calibri"/>
              <a:cs typeface="Calibri"/>
            </a:endParaRPr>
          </a:p>
          <a:p>
            <a:pPr marL="528320" indent="-51562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528320" algn="l"/>
              </a:tabLst>
            </a:pPr>
            <a:r>
              <a:rPr sz="3000" dirty="0">
                <a:latin typeface="Calibri"/>
                <a:cs typeface="Calibri"/>
              </a:rPr>
              <a:t>Founded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on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use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appropriate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technology</a:t>
            </a:r>
            <a:endParaRPr sz="3000">
              <a:latin typeface="Calibri"/>
              <a:cs typeface="Calibri"/>
            </a:endParaRPr>
          </a:p>
          <a:p>
            <a:pPr marL="528320" indent="-51562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528320" algn="l"/>
              </a:tabLst>
            </a:pPr>
            <a:r>
              <a:rPr sz="3000" dirty="0">
                <a:latin typeface="Calibri"/>
                <a:cs typeface="Calibri"/>
              </a:rPr>
              <a:t>Fully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develops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5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human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potential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136639"/>
            <a:ext cx="12191999" cy="72135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5AE80-A852-7F2A-441D-E11FFC6AFAA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3840" y="1381760"/>
            <a:ext cx="8983980" cy="494792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551" rIns="0" bIns="0" rtlCol="0">
            <a:spAutoFit/>
          </a:bodyPr>
          <a:lstStyle/>
          <a:p>
            <a:pPr marL="192151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SUSTAINABILITY</a:t>
            </a:r>
            <a:r>
              <a:rPr spc="-85" dirty="0"/>
              <a:t> </a:t>
            </a:r>
            <a:r>
              <a:rPr spc="-20" dirty="0"/>
              <a:t>AIMS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A52BD4-738B-7A59-A1D6-ACED43DBE07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520" y="414019"/>
            <a:ext cx="9288780" cy="64516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3970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10"/>
              </a:spcBef>
            </a:pPr>
            <a:r>
              <a:rPr sz="3600" spc="-10" dirty="0">
                <a:latin typeface="Calibri"/>
                <a:cs typeface="Calibri"/>
              </a:rPr>
              <a:t>Characteristics</a:t>
            </a:r>
            <a:r>
              <a:rPr sz="3600" spc="-10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114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Sustainable</a:t>
            </a:r>
            <a:r>
              <a:rPr sz="3600" spc="-11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602" y="2166937"/>
            <a:ext cx="2518410" cy="258762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528320" indent="-515620">
              <a:lnSpc>
                <a:spcPct val="100000"/>
              </a:lnSpc>
              <a:spcBef>
                <a:spcPts val="1540"/>
              </a:spcBef>
              <a:buAutoNum type="arabicPeriod"/>
              <a:tabLst>
                <a:tab pos="528320" algn="l"/>
              </a:tabLst>
            </a:pPr>
            <a:r>
              <a:rPr sz="3000" spc="-10" dirty="0">
                <a:latin typeface="Calibri"/>
                <a:cs typeface="Calibri"/>
              </a:rPr>
              <a:t>Flexible</a:t>
            </a:r>
            <a:endParaRPr sz="3000">
              <a:latin typeface="Calibri"/>
              <a:cs typeface="Calibri"/>
            </a:endParaRPr>
          </a:p>
          <a:p>
            <a:pPr marL="528320" indent="-51562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528320" algn="l"/>
              </a:tabLst>
            </a:pPr>
            <a:r>
              <a:rPr sz="3000" spc="-10" dirty="0">
                <a:latin typeface="Calibri"/>
                <a:cs typeface="Calibri"/>
              </a:rPr>
              <a:t>Experiential</a:t>
            </a:r>
            <a:endParaRPr sz="3000">
              <a:latin typeface="Calibri"/>
              <a:cs typeface="Calibri"/>
            </a:endParaRPr>
          </a:p>
          <a:p>
            <a:pPr marL="528320" indent="-515620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528320" algn="l"/>
              </a:tabLst>
            </a:pPr>
            <a:r>
              <a:rPr sz="3000" spc="-10" dirty="0">
                <a:latin typeface="Calibri"/>
                <a:cs typeface="Calibri"/>
              </a:rPr>
              <a:t>Participatory</a:t>
            </a:r>
            <a:endParaRPr sz="3000">
              <a:latin typeface="Calibri"/>
              <a:cs typeface="Calibri"/>
            </a:endParaRPr>
          </a:p>
          <a:p>
            <a:pPr marL="528320" indent="-515620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528320" algn="l"/>
              </a:tabLst>
            </a:pPr>
            <a:r>
              <a:rPr sz="3000" spc="-10" dirty="0">
                <a:latin typeface="Calibri"/>
                <a:cs typeface="Calibri"/>
              </a:rPr>
              <a:t>Proactive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136639"/>
            <a:ext cx="12191999" cy="72135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9B1C2-2F13-4B10-BAD0-0D43B8CD118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179" y="213359"/>
            <a:ext cx="9288780" cy="6477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65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30"/>
              </a:spcBef>
            </a:pPr>
            <a:r>
              <a:rPr sz="3600" dirty="0">
                <a:latin typeface="Calibri"/>
                <a:cs typeface="Calibri"/>
              </a:rPr>
              <a:t>Goals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Sustainable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602" y="1023620"/>
            <a:ext cx="11700510" cy="5147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2800" algn="just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Calibri"/>
                <a:cs typeface="Calibri"/>
              </a:rPr>
              <a:t>According</a:t>
            </a:r>
            <a:r>
              <a:rPr sz="2800" spc="1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Pretty</a:t>
            </a:r>
            <a:r>
              <a:rPr sz="2800" spc="1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(1996),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sustainable</a:t>
            </a:r>
            <a:r>
              <a:rPr sz="2800" spc="1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agriculture</a:t>
            </a:r>
            <a:r>
              <a:rPr sz="2800" spc="1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15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production 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5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systematically</a:t>
            </a:r>
            <a:r>
              <a:rPr sz="2800" spc="5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pursues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goals</a:t>
            </a:r>
            <a:r>
              <a:rPr sz="2800" spc="5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(Zamora,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5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Go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et</a:t>
            </a:r>
            <a:r>
              <a:rPr sz="2800" spc="5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al, </a:t>
            </a:r>
            <a:r>
              <a:rPr sz="2800" spc="-10" dirty="0">
                <a:latin typeface="Calibri"/>
                <a:cs typeface="Calibri"/>
              </a:rPr>
              <a:t>1999):</a:t>
            </a:r>
            <a:endParaRPr sz="2800">
              <a:latin typeface="Calibri"/>
              <a:cs typeface="Calibri"/>
            </a:endParaRPr>
          </a:p>
          <a:p>
            <a:pPr marL="12700" marR="8255" indent="462915" algn="just">
              <a:lnSpc>
                <a:spcPct val="100000"/>
              </a:lnSpc>
              <a:spcBef>
                <a:spcPts val="3365"/>
              </a:spcBef>
              <a:buAutoNum type="arabicPeriod"/>
              <a:tabLst>
                <a:tab pos="47561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thorough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incorporation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natural</a:t>
            </a:r>
            <a:r>
              <a:rPr sz="2800" spc="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processes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nutrient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cycling, </a:t>
            </a:r>
            <a:r>
              <a:rPr sz="2800" dirty="0">
                <a:latin typeface="Calibri"/>
                <a:cs typeface="Calibri"/>
              </a:rPr>
              <a:t>nitrogen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fixation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pest-</a:t>
            </a:r>
            <a:r>
              <a:rPr sz="2800" dirty="0">
                <a:latin typeface="Calibri"/>
                <a:cs typeface="Calibri"/>
              </a:rPr>
              <a:t>predator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relationships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(rather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pesticides)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pest </a:t>
            </a:r>
            <a:r>
              <a:rPr sz="2800" dirty="0">
                <a:latin typeface="Calibri"/>
                <a:cs typeface="Calibri"/>
              </a:rPr>
              <a:t>management.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nutrient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management,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involves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recycling</a:t>
            </a:r>
            <a:r>
              <a:rPr sz="2800" spc="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nutrients,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compost,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green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manure,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organic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fertilizers.</a:t>
            </a:r>
            <a:endParaRPr sz="2800">
              <a:latin typeface="Calibri"/>
              <a:cs typeface="Calibri"/>
            </a:endParaRPr>
          </a:p>
          <a:p>
            <a:pPr marL="12700" marR="6985" indent="349885" algn="just">
              <a:lnSpc>
                <a:spcPct val="100000"/>
              </a:lnSpc>
              <a:spcBef>
                <a:spcPts val="3365"/>
              </a:spcBef>
              <a:buAutoNum type="arabicPeriod"/>
              <a:tabLst>
                <a:tab pos="36258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minimization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elimination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external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non-</a:t>
            </a:r>
            <a:r>
              <a:rPr sz="2800" dirty="0">
                <a:latin typeface="Calibri"/>
                <a:cs typeface="Calibri"/>
              </a:rPr>
              <a:t>renewable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inputs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pesticides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synthetic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highly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soluble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fertilizers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damage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dirty="0">
                <a:latin typeface="Calibri"/>
                <a:cs typeface="Calibri"/>
              </a:rPr>
              <a:t>environment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harm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health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farmers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consumers.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2F314B-3FA5-20F8-415F-88396EE121E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179" y="213359"/>
            <a:ext cx="9288780" cy="64770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65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130"/>
              </a:spcBef>
            </a:pPr>
            <a:r>
              <a:rPr sz="3600" dirty="0">
                <a:latin typeface="Calibri"/>
                <a:cs typeface="Calibri"/>
              </a:rPr>
              <a:t>Goals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of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Sustainable</a:t>
            </a:r>
            <a:r>
              <a:rPr sz="3600" spc="-9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Agriculture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602" y="1023620"/>
            <a:ext cx="11700510" cy="537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indent="339725" algn="just">
              <a:lnSpc>
                <a:spcPct val="100000"/>
              </a:lnSpc>
              <a:spcBef>
                <a:spcPts val="100"/>
              </a:spcBef>
              <a:buAutoNum type="arabicPeriod" startAt="3"/>
              <a:tabLst>
                <a:tab pos="352425" algn="l"/>
              </a:tabLst>
            </a:pPr>
            <a:r>
              <a:rPr sz="2700" dirty="0">
                <a:latin typeface="Calibri"/>
                <a:cs typeface="Calibri"/>
              </a:rPr>
              <a:t>Practice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alternative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crop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livestock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breeding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selection.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Appropriate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and </a:t>
            </a:r>
            <a:r>
              <a:rPr sz="2700" dirty="0">
                <a:latin typeface="Calibri"/>
                <a:cs typeface="Calibri"/>
              </a:rPr>
              <a:t>highly</a:t>
            </a:r>
            <a:r>
              <a:rPr sz="2700" spc="1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adapted</a:t>
            </a:r>
            <a:r>
              <a:rPr sz="2700" spc="1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plant</a:t>
            </a:r>
            <a:r>
              <a:rPr sz="2700" spc="1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varieties</a:t>
            </a:r>
            <a:r>
              <a:rPr sz="2700" spc="1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1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animal</a:t>
            </a:r>
            <a:r>
              <a:rPr sz="2700" spc="1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breeds</a:t>
            </a:r>
            <a:r>
              <a:rPr sz="2700" spc="1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will</a:t>
            </a:r>
            <a:r>
              <a:rPr sz="2700" spc="1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be</a:t>
            </a:r>
            <a:r>
              <a:rPr sz="2700" spc="1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conserved,</a:t>
            </a:r>
            <a:r>
              <a:rPr sz="2700" spc="1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multiplied</a:t>
            </a:r>
            <a:r>
              <a:rPr sz="2700" spc="13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and </a:t>
            </a:r>
            <a:r>
              <a:rPr sz="2700" spc="-10" dirty="0">
                <a:latin typeface="Calibri"/>
                <a:cs typeface="Calibri"/>
              </a:rPr>
              <a:t>utilized.</a:t>
            </a:r>
            <a:endParaRPr sz="2700">
              <a:latin typeface="Calibri"/>
              <a:cs typeface="Calibri"/>
            </a:endParaRPr>
          </a:p>
          <a:p>
            <a:pPr marL="12700" marR="8255" indent="434340" algn="just">
              <a:lnSpc>
                <a:spcPct val="100000"/>
              </a:lnSpc>
              <a:buAutoNum type="arabicPeriod" startAt="3"/>
              <a:tabLst>
                <a:tab pos="447040" algn="l"/>
              </a:tabLst>
            </a:pPr>
            <a:r>
              <a:rPr sz="2700" dirty="0">
                <a:latin typeface="Calibri"/>
                <a:cs typeface="Calibri"/>
              </a:rPr>
              <a:t>Practice</a:t>
            </a:r>
            <a:r>
              <a:rPr sz="2700" spc="6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3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diversified</a:t>
            </a:r>
            <a:r>
              <a:rPr sz="2700" spc="6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6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integrated</a:t>
            </a:r>
            <a:r>
              <a:rPr sz="2700" spc="3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farming</a:t>
            </a:r>
            <a:r>
              <a:rPr sz="2700" spc="6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system</a:t>
            </a:r>
            <a:r>
              <a:rPr sz="2700" spc="3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35" dirty="0">
                <a:latin typeface="Calibri"/>
                <a:cs typeface="Calibri"/>
              </a:rPr>
              <a:t>  </a:t>
            </a:r>
            <a:r>
              <a:rPr sz="2700" dirty="0">
                <a:latin typeface="Calibri"/>
                <a:cs typeface="Calibri"/>
              </a:rPr>
              <a:t>special</a:t>
            </a:r>
            <a:r>
              <a:rPr sz="2700" spc="6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focus</a:t>
            </a:r>
            <a:r>
              <a:rPr sz="2700" spc="35" dirty="0">
                <a:latin typeface="Calibri"/>
                <a:cs typeface="Calibri"/>
              </a:rPr>
              <a:t>  </a:t>
            </a:r>
            <a:r>
              <a:rPr sz="2700" spc="-25" dirty="0">
                <a:latin typeface="Calibri"/>
                <a:cs typeface="Calibri"/>
              </a:rPr>
              <a:t>on </a:t>
            </a:r>
            <a:r>
              <a:rPr sz="2700" dirty="0">
                <a:latin typeface="Calibri"/>
                <a:cs typeface="Calibri"/>
              </a:rPr>
              <a:t>functional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diversity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farm.</a:t>
            </a:r>
            <a:endParaRPr sz="2700">
              <a:latin typeface="Calibri"/>
              <a:cs typeface="Calibri"/>
            </a:endParaRPr>
          </a:p>
          <a:p>
            <a:pPr marL="12700" marR="5080" indent="342265" algn="just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354965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full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participation of farmers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local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indigenous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peoples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all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processes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problem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analysis,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technology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development,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adaptation</a:t>
            </a:r>
            <a:r>
              <a:rPr sz="2700" spc="-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extension.</a:t>
            </a:r>
            <a:endParaRPr sz="2700">
              <a:latin typeface="Calibri"/>
              <a:cs typeface="Calibri"/>
            </a:endParaRPr>
          </a:p>
          <a:p>
            <a:pPr marL="349885" indent="-337185" algn="just">
              <a:lnSpc>
                <a:spcPct val="100000"/>
              </a:lnSpc>
              <a:buAutoNum type="arabicPeriod" startAt="3"/>
              <a:tabLst>
                <a:tab pos="349885" algn="l"/>
              </a:tabLst>
            </a:pPr>
            <a:r>
              <a:rPr sz="2700" dirty="0">
                <a:latin typeface="Calibri"/>
                <a:cs typeface="Calibri"/>
              </a:rPr>
              <a:t>A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more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equitable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access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to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productive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resources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opportunities.</a:t>
            </a:r>
            <a:endParaRPr sz="2700">
              <a:latin typeface="Calibri"/>
              <a:cs typeface="Calibri"/>
            </a:endParaRPr>
          </a:p>
          <a:p>
            <a:pPr marL="349885" indent="-337185" algn="just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349885" algn="l"/>
              </a:tabLst>
            </a:pPr>
            <a:r>
              <a:rPr sz="2700" dirty="0">
                <a:latin typeface="Calibri"/>
                <a:cs typeface="Calibri"/>
              </a:rPr>
              <a:t>A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greater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productive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use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local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knowledge,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practices</a:t>
            </a:r>
            <a:r>
              <a:rPr sz="2700" spc="-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resources.</a:t>
            </a:r>
            <a:endParaRPr sz="2700">
              <a:latin typeface="Calibri"/>
              <a:cs typeface="Calibri"/>
            </a:endParaRPr>
          </a:p>
          <a:p>
            <a:pPr marL="12700" marR="5080" indent="370205" algn="just">
              <a:lnSpc>
                <a:spcPct val="100000"/>
              </a:lnSpc>
              <a:buAutoNum type="arabicPeriod" startAt="3"/>
              <a:tabLst>
                <a:tab pos="382905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1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incorporation</a:t>
            </a:r>
            <a:r>
              <a:rPr sz="2700" spc="2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2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2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diversity</a:t>
            </a:r>
            <a:r>
              <a:rPr sz="2700" spc="1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2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natural</a:t>
            </a:r>
            <a:r>
              <a:rPr sz="2700" spc="2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resources</a:t>
            </a:r>
            <a:r>
              <a:rPr sz="2700" spc="20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2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enterprises</a:t>
            </a:r>
            <a:r>
              <a:rPr sz="2700" spc="204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within</a:t>
            </a:r>
            <a:r>
              <a:rPr sz="2700" spc="21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the </a:t>
            </a:r>
            <a:r>
              <a:rPr sz="2700" spc="-10" dirty="0">
                <a:latin typeface="Calibri"/>
                <a:cs typeface="Calibri"/>
              </a:rPr>
              <a:t>farms.</a:t>
            </a:r>
            <a:endParaRPr sz="2700">
              <a:latin typeface="Calibri"/>
              <a:cs typeface="Calibri"/>
            </a:endParaRPr>
          </a:p>
          <a:p>
            <a:pPr marL="349885" indent="-337185" algn="just">
              <a:lnSpc>
                <a:spcPct val="100000"/>
              </a:lnSpc>
              <a:buAutoNum type="arabicPeriod" startAt="3"/>
              <a:tabLst>
                <a:tab pos="349885" algn="l"/>
              </a:tabLst>
            </a:pPr>
            <a:r>
              <a:rPr sz="2700" dirty="0">
                <a:latin typeface="Calibri"/>
                <a:cs typeface="Calibri"/>
              </a:rPr>
              <a:t>An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increase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self-</a:t>
            </a:r>
            <a:r>
              <a:rPr sz="2700" dirty="0">
                <a:latin typeface="Calibri"/>
                <a:cs typeface="Calibri"/>
              </a:rPr>
              <a:t>reliance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among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farmers,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local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indigenous</a:t>
            </a:r>
            <a:r>
              <a:rPr sz="2700" spc="-6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communities.</a:t>
            </a:r>
            <a:endParaRPr sz="2700">
              <a:latin typeface="Calibri"/>
              <a:cs typeface="Calibri"/>
            </a:endParaRPr>
          </a:p>
          <a:p>
            <a:pPr marL="523240" indent="-510540" algn="just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523240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recognition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role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of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women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development</a:t>
            </a:r>
            <a:r>
              <a:rPr sz="2700" spc="-8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process.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95A83-5701-5FAE-14E5-29ACCA39C94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7475" y="114933"/>
            <a:ext cx="5962650" cy="6724650"/>
            <a:chOff x="117475" y="114933"/>
            <a:chExt cx="5962650" cy="67246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339" y="200658"/>
              <a:ext cx="5867400" cy="66294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2237" y="119696"/>
              <a:ext cx="5953125" cy="6715125"/>
            </a:xfrm>
            <a:custGeom>
              <a:avLst/>
              <a:gdLst/>
              <a:ahLst/>
              <a:cxnLst/>
              <a:rect l="l" t="t" r="r" b="b"/>
              <a:pathLst>
                <a:path w="5953125" h="6715125">
                  <a:moveTo>
                    <a:pt x="0" y="6715125"/>
                  </a:moveTo>
                  <a:lnTo>
                    <a:pt x="5953125" y="6715125"/>
                  </a:lnTo>
                  <a:lnTo>
                    <a:pt x="5953125" y="0"/>
                  </a:lnTo>
                  <a:lnTo>
                    <a:pt x="0" y="0"/>
                  </a:lnTo>
                  <a:lnTo>
                    <a:pt x="0" y="6715125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6132258" y="-3496"/>
            <a:ext cx="5962650" cy="6807834"/>
            <a:chOff x="6132258" y="-3496"/>
            <a:chExt cx="5962650" cy="680783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9771" y="327658"/>
              <a:ext cx="5854814" cy="64309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152134" y="322896"/>
              <a:ext cx="5917565" cy="6476365"/>
            </a:xfrm>
            <a:custGeom>
              <a:avLst/>
              <a:gdLst/>
              <a:ahLst/>
              <a:cxnLst/>
              <a:rect l="l" t="t" r="r" b="b"/>
              <a:pathLst>
                <a:path w="5917565" h="6476365">
                  <a:moveTo>
                    <a:pt x="0" y="6476365"/>
                  </a:moveTo>
                  <a:lnTo>
                    <a:pt x="5917565" y="6476365"/>
                  </a:lnTo>
                  <a:lnTo>
                    <a:pt x="5917565" y="0"/>
                  </a:lnTo>
                  <a:lnTo>
                    <a:pt x="0" y="0"/>
                  </a:lnTo>
                  <a:lnTo>
                    <a:pt x="0" y="6476365"/>
                  </a:lnTo>
                  <a:close/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41720" y="0"/>
              <a:ext cx="5943600" cy="3683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137021" y="1265"/>
              <a:ext cx="5953125" cy="372110"/>
            </a:xfrm>
            <a:custGeom>
              <a:avLst/>
              <a:gdLst/>
              <a:ahLst/>
              <a:cxnLst/>
              <a:rect l="l" t="t" r="r" b="b"/>
              <a:pathLst>
                <a:path w="5953125" h="372110">
                  <a:moveTo>
                    <a:pt x="0" y="0"/>
                  </a:moveTo>
                  <a:lnTo>
                    <a:pt x="0" y="371860"/>
                  </a:lnTo>
                  <a:lnTo>
                    <a:pt x="5953125" y="371860"/>
                  </a:lnTo>
                  <a:lnTo>
                    <a:pt x="5953125" y="0"/>
                  </a:lnTo>
                </a:path>
              </a:pathLst>
            </a:custGeom>
            <a:ln w="9525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D62579-2678-AF6D-0825-F2C7899848F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0190" y="258762"/>
            <a:ext cx="11403330" cy="4904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latin typeface="Calibri"/>
                <a:cs typeface="Calibri"/>
              </a:rPr>
              <a:t>References: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5"/>
              </a:spcBef>
            </a:pPr>
            <a:r>
              <a:rPr sz="4000" b="1" spc="-10" dirty="0">
                <a:latin typeface="Calibri"/>
                <a:cs typeface="Calibri"/>
              </a:rPr>
              <a:t>-</a:t>
            </a:r>
            <a:r>
              <a:rPr sz="4000" b="1" dirty="0">
                <a:latin typeface="Calibri"/>
                <a:cs typeface="Calibri"/>
              </a:rPr>
              <a:t>Certification</a:t>
            </a:r>
            <a:r>
              <a:rPr sz="4000" b="1" spc="-13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of</a:t>
            </a:r>
            <a:r>
              <a:rPr sz="4000" b="1" spc="-13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Environmental</a:t>
            </a:r>
            <a:r>
              <a:rPr sz="4000" b="1" spc="-13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Standards</a:t>
            </a:r>
            <a:r>
              <a:rPr sz="4000" b="1" spc="-13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(CERES)</a:t>
            </a:r>
            <a:endParaRPr sz="4000">
              <a:latin typeface="Calibri"/>
              <a:cs typeface="Calibri"/>
            </a:endParaRPr>
          </a:p>
          <a:p>
            <a:pPr marL="12700" marR="1354455">
              <a:lnSpc>
                <a:spcPct val="100000"/>
              </a:lnSpc>
            </a:pPr>
            <a:r>
              <a:rPr sz="4000" b="1" spc="-10" dirty="0">
                <a:latin typeface="Calibri"/>
                <a:cs typeface="Calibri"/>
              </a:rPr>
              <a:t>-International</a:t>
            </a:r>
            <a:r>
              <a:rPr sz="4000" b="1" spc="-12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Federation</a:t>
            </a:r>
            <a:r>
              <a:rPr sz="4000" b="1" spc="-14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of</a:t>
            </a:r>
            <a:r>
              <a:rPr sz="4000" b="1" spc="-14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Organic</a:t>
            </a:r>
            <a:r>
              <a:rPr sz="4000" b="1" spc="-14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Agriculture </a:t>
            </a:r>
            <a:r>
              <a:rPr sz="4000" b="1" dirty="0">
                <a:latin typeface="Calibri"/>
                <a:cs typeface="Calibri"/>
              </a:rPr>
              <a:t>Movement</a:t>
            </a:r>
            <a:r>
              <a:rPr sz="4000" b="1" spc="-13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(IFOAM)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000" b="1" spc="-25" dirty="0">
                <a:latin typeface="Calibri"/>
                <a:cs typeface="Calibri"/>
              </a:rPr>
              <a:t>-</a:t>
            </a:r>
            <a:r>
              <a:rPr sz="4000" b="1" dirty="0">
                <a:latin typeface="Calibri"/>
                <a:cs typeface="Calibri"/>
              </a:rPr>
              <a:t>Organic</a:t>
            </a:r>
            <a:r>
              <a:rPr sz="4000" b="1" spc="-13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Certification</a:t>
            </a:r>
            <a:r>
              <a:rPr sz="4000" b="1" spc="-12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Center</a:t>
            </a:r>
            <a:r>
              <a:rPr sz="4000" b="1" spc="-13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of</a:t>
            </a:r>
            <a:r>
              <a:rPr sz="4000" b="1" spc="-15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the</a:t>
            </a:r>
            <a:r>
              <a:rPr sz="4000" b="1" spc="-114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Philippines</a:t>
            </a:r>
            <a:r>
              <a:rPr sz="4000" b="1" spc="-75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(OCCP)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4000" b="1" spc="-10" dirty="0">
                <a:latin typeface="Calibri"/>
                <a:cs typeface="Calibri"/>
              </a:rPr>
              <a:t>-</a:t>
            </a:r>
            <a:r>
              <a:rPr sz="4000" b="1" dirty="0">
                <a:latin typeface="Calibri"/>
                <a:cs typeface="Calibri"/>
              </a:rPr>
              <a:t>PCARRD</a:t>
            </a:r>
            <a:r>
              <a:rPr sz="4000" b="1" spc="-15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Organic</a:t>
            </a:r>
            <a:r>
              <a:rPr sz="4000" b="1" spc="-170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Agriculture</a:t>
            </a:r>
            <a:r>
              <a:rPr sz="4000" b="1" spc="-114" dirty="0">
                <a:latin typeface="Calibri"/>
                <a:cs typeface="Calibri"/>
              </a:rPr>
              <a:t> </a:t>
            </a:r>
            <a:r>
              <a:rPr sz="4000" b="1" spc="-35" dirty="0">
                <a:latin typeface="Calibri"/>
                <a:cs typeface="Calibri"/>
              </a:rPr>
              <a:t>Training</a:t>
            </a:r>
            <a:r>
              <a:rPr sz="4000" b="1" spc="-15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Manual</a:t>
            </a:r>
            <a:endParaRPr sz="4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000" b="1" spc="-10" dirty="0">
                <a:latin typeface="Calibri"/>
                <a:cs typeface="Calibri"/>
              </a:rPr>
              <a:t>-Sustainable</a:t>
            </a:r>
            <a:r>
              <a:rPr sz="4000" b="1" spc="-17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Agriculture</a:t>
            </a:r>
            <a:r>
              <a:rPr sz="4000" b="1" spc="-155" dirty="0">
                <a:latin typeface="Calibri"/>
                <a:cs typeface="Calibri"/>
              </a:rPr>
              <a:t> </a:t>
            </a:r>
            <a:r>
              <a:rPr sz="4000" b="1" dirty="0">
                <a:latin typeface="Calibri"/>
                <a:cs typeface="Calibri"/>
              </a:rPr>
              <a:t>(Canare,</a:t>
            </a:r>
            <a:r>
              <a:rPr sz="4000" b="1" spc="-170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Koerkamp)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75B9A-23F9-D372-130A-471DC37774F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r>
              <a:rPr lang="en-US"/>
              <a:t>Adapted from: Monshyne D. Cabual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1962</Words>
  <Application>Microsoft Office PowerPoint</Application>
  <PresentationFormat>Widescreen</PresentationFormat>
  <Paragraphs>159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Arial MT</vt:lpstr>
      <vt:lpstr>Calibri</vt:lpstr>
      <vt:lpstr>Cambria</vt:lpstr>
      <vt:lpstr>Office Theme</vt:lpstr>
      <vt:lpstr>MODELS OF AGRICULTURE</vt:lpstr>
      <vt:lpstr>Different Farming Systems</vt:lpstr>
      <vt:lpstr>TRADITIONAL FARMING SYSTEM</vt:lpstr>
      <vt:lpstr>MODELS OF AGRICULTURE</vt:lpstr>
      <vt:lpstr>A. Industrial (Conventional) Agriculture</vt:lpstr>
      <vt:lpstr>A. Industrial (Conventional) Agriculture</vt:lpstr>
      <vt:lpstr>NON-SUSTAINABLE/INDUSTRIAL AGRICULTURE</vt:lpstr>
      <vt:lpstr>A. The Green Revolution</vt:lpstr>
      <vt:lpstr>B. Market Economics and Market Agriculture</vt:lpstr>
      <vt:lpstr>PowerPoint Presentation</vt:lpstr>
      <vt:lpstr>CONVENTIONAL FARMING SYSTEM: THE GREEN REVOLUTION</vt:lpstr>
      <vt:lpstr>SUCCESS &amp; SHORTCOMINGS OF THE GREEN REVOLUTION</vt:lpstr>
      <vt:lpstr>PowerPoint Presentation</vt:lpstr>
      <vt:lpstr>PESTICIDES: “Plant Medicine” or Poison?</vt:lpstr>
      <vt:lpstr>CONVENTIONAL FARMING: Reality</vt:lpstr>
      <vt:lpstr>CONVENTIONAL FARMING: Reality</vt:lpstr>
      <vt:lpstr>CONVENTIONAL FARMING: Reality</vt:lpstr>
      <vt:lpstr>B. Sustainable Agriculture</vt:lpstr>
      <vt:lpstr>B. Sustainable Agriculture</vt:lpstr>
      <vt:lpstr>HISTORICAL ROOTS OF SUSTAINABLE AGRICULTURE</vt:lpstr>
      <vt:lpstr>HISTORICAL ROOTS OF SUSTAINABLE AGRICULTURE</vt:lpstr>
      <vt:lpstr>Roots in the Philippines</vt:lpstr>
      <vt:lpstr>Features/Dimensions of Sustainable Agriculture</vt:lpstr>
      <vt:lpstr>SUSTAINABILITY AIMS</vt:lpstr>
      <vt:lpstr>Characteristics of Sustainable Agriculture</vt:lpstr>
      <vt:lpstr>Goals of Sustainable Agriculture</vt:lpstr>
      <vt:lpstr>Goals of Sustainable Agriculture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Marjorie Disor-Hoylar</cp:lastModifiedBy>
  <cp:revision>1</cp:revision>
  <dcterms:created xsi:type="dcterms:W3CDTF">2025-11-19T04:00:01Z</dcterms:created>
  <dcterms:modified xsi:type="dcterms:W3CDTF">2025-11-19T04:07:24Z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2025-11-19T00:00:00Z</vt:filetime>
  </property>
  <property fmtid="{D5CDD505-2E9C-101B-9397-08002B2CF9AE}" pid="5" name="Producer">
    <vt:lpwstr>Microsoft® PowerPoint® for Microsoft 365</vt:lpwstr>
  </property>
</Properties>
</file>