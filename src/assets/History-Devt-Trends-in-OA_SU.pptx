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418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AED61-F3C7-40E4-BA5D-1A8A01FE21E5}" type="datetimeFigureOut">
              <a:rPr lang="en-PH" smtClean="0"/>
              <a:t>19/11/2025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C2AA7-1A14-4AF0-8905-FAF325BD44B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5475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54E72-FFF3-497B-86C7-34FFCF2FDEB8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0C093-E99D-4E0E-86B1-F2BC26C972F7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83933" y="1147445"/>
            <a:ext cx="5359400" cy="472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2371E-394C-47A4-9127-618087DEC670}" type="datetime1">
              <a:rPr lang="en-US" smtClean="0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B166F-3B79-48CD-B6F1-E04D4EC7D37B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868A7-FADE-4940-B04B-305A63C6623A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136639"/>
            <a:ext cx="12191999" cy="7213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190" y="132079"/>
            <a:ext cx="9333230" cy="762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0190" y="1335341"/>
            <a:ext cx="7706995" cy="51686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3649D-7D8C-4AE9-B5F2-E55FAC6C1E9E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6804" y="1287508"/>
            <a:ext cx="972121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3105" marR="5080" indent="-701040">
              <a:lnSpc>
                <a:spcPct val="100000"/>
              </a:lnSpc>
              <a:spcBef>
                <a:spcPts val="100"/>
              </a:spcBef>
            </a:pPr>
            <a:r>
              <a:rPr sz="4400" spc="10" dirty="0"/>
              <a:t>HI</a:t>
            </a:r>
            <a:r>
              <a:rPr sz="4400" spc="-25" dirty="0"/>
              <a:t>S</a:t>
            </a:r>
            <a:r>
              <a:rPr sz="4400" spc="-110" dirty="0"/>
              <a:t>T</a:t>
            </a:r>
            <a:r>
              <a:rPr sz="4400" spc="10" dirty="0"/>
              <a:t>O</a:t>
            </a:r>
            <a:r>
              <a:rPr sz="4400" spc="-65" dirty="0"/>
              <a:t>R</a:t>
            </a:r>
            <a:r>
              <a:rPr sz="4400" spc="-530" dirty="0"/>
              <a:t>Y</a:t>
            </a:r>
            <a:r>
              <a:rPr sz="4400" spc="10" dirty="0"/>
              <a:t>,</a:t>
            </a:r>
            <a:r>
              <a:rPr sz="4400" spc="-120" dirty="0"/>
              <a:t> </a:t>
            </a:r>
            <a:r>
              <a:rPr sz="4400" spc="-35" dirty="0"/>
              <a:t>DEVELOPMENT,</a:t>
            </a:r>
            <a:r>
              <a:rPr sz="4400" spc="-105" dirty="0"/>
              <a:t> </a:t>
            </a:r>
            <a:r>
              <a:rPr sz="4400" dirty="0"/>
              <a:t>CONCERNS</a:t>
            </a:r>
            <a:r>
              <a:rPr sz="4400" spc="-110" dirty="0"/>
              <a:t> </a:t>
            </a:r>
            <a:r>
              <a:rPr sz="4400" spc="-25" dirty="0"/>
              <a:t>AND </a:t>
            </a:r>
            <a:r>
              <a:rPr sz="4400" dirty="0"/>
              <a:t>TRENDS</a:t>
            </a:r>
            <a:r>
              <a:rPr sz="4400" spc="-80" dirty="0"/>
              <a:t> </a:t>
            </a:r>
            <a:r>
              <a:rPr sz="4400" dirty="0"/>
              <a:t>OF</a:t>
            </a:r>
            <a:r>
              <a:rPr sz="4400" spc="-70" dirty="0"/>
              <a:t> </a:t>
            </a:r>
            <a:r>
              <a:rPr sz="4400" dirty="0"/>
              <a:t>ORGANIC</a:t>
            </a:r>
            <a:r>
              <a:rPr sz="4400" spc="-70" dirty="0"/>
              <a:t> </a:t>
            </a:r>
            <a:r>
              <a:rPr sz="4400" spc="-10" dirty="0"/>
              <a:t>AGRICULTURE</a:t>
            </a:r>
            <a:endParaRPr sz="440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919" y="2687320"/>
            <a:ext cx="5382259" cy="28905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9440" y="2651760"/>
            <a:ext cx="3878579" cy="2926079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F60AA48-33AA-12B1-4646-F4C5839028B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History</a:t>
            </a:r>
            <a:r>
              <a:rPr spc="-12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10" dirty="0"/>
              <a:t>Organic</a:t>
            </a:r>
            <a:r>
              <a:rPr spc="-120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0190" y="967104"/>
            <a:ext cx="7986395" cy="3379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indent="858519" algn="just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It</a:t>
            </a:r>
            <a:r>
              <a:rPr sz="3000" spc="6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6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difficult</a:t>
            </a:r>
            <a:r>
              <a:rPr sz="3000" spc="6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6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say</a:t>
            </a:r>
            <a:r>
              <a:rPr sz="3000" spc="6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when</a:t>
            </a:r>
            <a:r>
              <a:rPr sz="3000" spc="6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6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how</a:t>
            </a:r>
            <a:r>
              <a:rPr sz="3000" spc="630" dirty="0">
                <a:latin typeface="Calibri"/>
                <a:cs typeface="Calibri"/>
              </a:rPr>
              <a:t> </a:t>
            </a:r>
            <a:r>
              <a:rPr sz="3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organic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agriculture</a:t>
            </a:r>
            <a:r>
              <a:rPr sz="3000" b="1" u="sng" spc="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(OA)</a:t>
            </a:r>
            <a:r>
              <a:rPr sz="3000" b="1" u="sng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first</a:t>
            </a:r>
            <a:r>
              <a:rPr sz="3000" spc="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appeared</a:t>
            </a:r>
            <a:r>
              <a:rPr sz="3000" spc="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contemporary form.</a:t>
            </a:r>
            <a:endParaRPr sz="3000">
              <a:latin typeface="Calibri"/>
              <a:cs typeface="Calibri"/>
            </a:endParaRPr>
          </a:p>
          <a:p>
            <a:pPr marL="12700" marR="5080" indent="861060" algn="just">
              <a:lnSpc>
                <a:spcPct val="100000"/>
              </a:lnSpc>
              <a:spcBef>
                <a:spcPts val="1205"/>
              </a:spcBef>
            </a:pPr>
            <a:r>
              <a:rPr sz="3000" dirty="0">
                <a:latin typeface="Calibri"/>
                <a:cs typeface="Calibri"/>
              </a:rPr>
              <a:t>OA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principles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progress are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closely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related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traditional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farming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methods,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are </a:t>
            </a:r>
            <a:r>
              <a:rPr sz="3000" dirty="0">
                <a:latin typeface="Calibri"/>
                <a:cs typeface="Calibri"/>
              </a:rPr>
              <a:t>extremely</a:t>
            </a:r>
            <a:r>
              <a:rPr sz="3000" spc="570" dirty="0">
                <a:latin typeface="Calibri"/>
                <a:cs typeface="Calibri"/>
              </a:rPr>
              <a:t>  </a:t>
            </a:r>
            <a:r>
              <a:rPr sz="3000" spc="-20" dirty="0">
                <a:latin typeface="Calibri"/>
                <a:cs typeface="Calibri"/>
              </a:rPr>
              <a:t>self-</a:t>
            </a:r>
            <a:r>
              <a:rPr sz="3000" dirty="0">
                <a:latin typeface="Calibri"/>
                <a:cs typeface="Calibri"/>
              </a:rPr>
              <a:t>sufficient</a:t>
            </a:r>
            <a:r>
              <a:rPr sz="3000" spc="57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56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sustainable</a:t>
            </a:r>
            <a:r>
              <a:rPr sz="3000" spc="560" dirty="0">
                <a:latin typeface="Calibri"/>
                <a:cs typeface="Calibri"/>
              </a:rPr>
              <a:t>  </a:t>
            </a:r>
            <a:r>
              <a:rPr sz="3000" spc="-20" dirty="0">
                <a:latin typeface="Calibri"/>
                <a:cs typeface="Calibri"/>
              </a:rPr>
              <a:t>over </a:t>
            </a:r>
            <a:r>
              <a:rPr sz="3000" dirty="0">
                <a:latin typeface="Calibri"/>
                <a:cs typeface="Calibri"/>
              </a:rPr>
              <a:t>generations.</a:t>
            </a:r>
            <a:r>
              <a:rPr sz="3000" spc="2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Together</a:t>
            </a:r>
            <a:r>
              <a:rPr sz="3000" spc="2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2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scientific</a:t>
            </a:r>
            <a:r>
              <a:rPr sz="3000" spc="2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research</a:t>
            </a:r>
            <a:r>
              <a:rPr sz="3000" spc="28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and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190" y="4321175"/>
            <a:ext cx="66167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915160" algn="l"/>
                <a:tab pos="2075180" algn="l"/>
                <a:tab pos="2677160" algn="l"/>
                <a:tab pos="3998595" algn="l"/>
                <a:tab pos="4110354" algn="l"/>
                <a:tab pos="4547235" algn="l"/>
                <a:tab pos="5027295" algn="l"/>
                <a:tab pos="5774055" algn="l"/>
              </a:tabLst>
            </a:pPr>
            <a:r>
              <a:rPr sz="3000" spc="-10" dirty="0">
                <a:latin typeface="Calibri"/>
                <a:cs typeface="Calibri"/>
              </a:rPr>
              <a:t>experiential</a:t>
            </a:r>
            <a:r>
              <a:rPr sz="3000" dirty="0">
                <a:latin typeface="Calibri"/>
                <a:cs typeface="Calibri"/>
              </a:rPr>
              <a:t>		</a:t>
            </a:r>
            <a:r>
              <a:rPr sz="3000" spc="-10" dirty="0">
                <a:latin typeface="Calibri"/>
                <a:cs typeface="Calibri"/>
              </a:rPr>
              <a:t>knowledge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of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practitioners, </a:t>
            </a:r>
            <a:r>
              <a:rPr sz="3000" spc="-10" dirty="0">
                <a:latin typeface="Calibri"/>
                <a:cs typeface="Calibri"/>
              </a:rPr>
              <a:t>agriculture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has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evolved</a:t>
            </a:r>
            <a:r>
              <a:rPr sz="3000" dirty="0">
                <a:latin typeface="Calibri"/>
                <a:cs typeface="Calibri"/>
              </a:rPr>
              <a:t>		</a:t>
            </a:r>
            <a:r>
              <a:rPr sz="3000" spc="-20" dirty="0">
                <a:latin typeface="Calibri"/>
                <a:cs typeface="Calibri"/>
              </a:rPr>
              <a:t>over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past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6100" y="4321175"/>
            <a:ext cx="13442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034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latin typeface="Calibri"/>
                <a:cs typeface="Calibri"/>
              </a:rPr>
              <a:t>organic </a:t>
            </a:r>
            <a:r>
              <a:rPr sz="3000" spc="-10" dirty="0">
                <a:latin typeface="Calibri"/>
                <a:cs typeface="Calibri"/>
              </a:rPr>
              <a:t>hundred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190" y="5235892"/>
            <a:ext cx="79883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years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what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today,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system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produce </a:t>
            </a:r>
            <a:r>
              <a:rPr sz="3000" dirty="0">
                <a:latin typeface="Calibri"/>
                <a:cs typeface="Calibri"/>
              </a:rPr>
              <a:t>food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fiber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sustainable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manner.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6140" y="2369820"/>
            <a:ext cx="3449320" cy="269494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C1E2D0-6C9A-FBC6-F589-8EEC0E6C64A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Pioneers</a:t>
            </a:r>
            <a:r>
              <a:rPr spc="-10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Organic</a:t>
            </a:r>
            <a:r>
              <a:rPr spc="-110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390" y="4559300"/>
            <a:ext cx="319786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526540" algn="l"/>
                <a:tab pos="1559560" algn="l"/>
                <a:tab pos="2120900" algn="l"/>
              </a:tabLst>
            </a:pPr>
            <a:r>
              <a:rPr sz="3000" spc="-10" dirty="0">
                <a:latin typeface="Calibri"/>
                <a:cs typeface="Calibri"/>
              </a:rPr>
              <a:t>steadily</a:t>
            </a:r>
            <a:r>
              <a:rPr sz="3000" dirty="0">
                <a:latin typeface="Calibri"/>
                <a:cs typeface="Calibri"/>
              </a:rPr>
              <a:t>		</a:t>
            </a:r>
            <a:r>
              <a:rPr sz="3000" spc="-10" dirty="0">
                <a:latin typeface="Calibri"/>
                <a:cs typeface="Calibri"/>
              </a:rPr>
              <a:t>developed concept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of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soil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18865" y="5016880"/>
            <a:ext cx="11417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libri"/>
                <a:cs typeface="Calibri"/>
              </a:rPr>
              <a:t>fertility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1546" y="4559300"/>
            <a:ext cx="203453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100"/>
              </a:spcBef>
              <a:tabLst>
                <a:tab pos="875665" algn="l"/>
              </a:tabLst>
            </a:pP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organic</a:t>
            </a:r>
            <a:endParaRPr sz="30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000" spc="-10" dirty="0">
                <a:latin typeface="Calibri"/>
                <a:cs typeface="Calibri"/>
              </a:rPr>
              <a:t>through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390" y="5473700"/>
            <a:ext cx="26727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libri"/>
                <a:cs typeface="Calibri"/>
              </a:rPr>
              <a:t>compost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making.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190" y="1335341"/>
            <a:ext cx="6928484" cy="324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890" indent="-50419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16890" algn="l"/>
              </a:tabLst>
            </a:pPr>
            <a:r>
              <a:rPr sz="4000" b="1" dirty="0">
                <a:latin typeface="Calibri"/>
                <a:cs typeface="Calibri"/>
              </a:rPr>
              <a:t>Sir</a:t>
            </a:r>
            <a:r>
              <a:rPr sz="4000" b="1" spc="-9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Albert</a:t>
            </a:r>
            <a:r>
              <a:rPr sz="4000" b="1" spc="-6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Howard</a:t>
            </a:r>
            <a:r>
              <a:rPr sz="4000" b="1" spc="-114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(1873-1947)</a:t>
            </a:r>
            <a:endParaRPr sz="4000">
              <a:latin typeface="Calibri"/>
              <a:cs typeface="Calibri"/>
            </a:endParaRPr>
          </a:p>
          <a:p>
            <a:pPr marL="470534" lvl="1" indent="-457834" algn="just">
              <a:lnSpc>
                <a:spcPct val="100000"/>
              </a:lnSpc>
              <a:spcBef>
                <a:spcPts val="2575"/>
              </a:spcBef>
              <a:buFont typeface="Arial MT"/>
              <a:buChar char="•"/>
              <a:tabLst>
                <a:tab pos="470534" algn="l"/>
              </a:tabLst>
            </a:pPr>
            <a:r>
              <a:rPr sz="3000" dirty="0">
                <a:latin typeface="Calibri"/>
                <a:cs typeface="Calibri"/>
              </a:rPr>
              <a:t>British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botanist</a:t>
            </a:r>
            <a:endParaRPr sz="3000">
              <a:latin typeface="Calibri"/>
              <a:cs typeface="Calibri"/>
            </a:endParaRPr>
          </a:p>
          <a:p>
            <a:pPr marL="469900" marR="905510" lvl="1" indent="-45720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considered</a:t>
            </a:r>
            <a:r>
              <a:rPr sz="3000" spc="2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2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254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father</a:t>
            </a:r>
            <a:r>
              <a:rPr sz="3000" spc="2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245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“organic</a:t>
            </a:r>
            <a:r>
              <a:rPr sz="3000" spc="6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composting”</a:t>
            </a:r>
            <a:r>
              <a:rPr sz="3000" spc="6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method.</a:t>
            </a:r>
            <a:r>
              <a:rPr sz="3000" spc="6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He </a:t>
            </a:r>
            <a:r>
              <a:rPr sz="3000" dirty="0">
                <a:latin typeface="Calibri"/>
                <a:cs typeface="Calibri"/>
              </a:rPr>
              <a:t>spent</a:t>
            </a:r>
            <a:r>
              <a:rPr sz="3000" spc="5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almost</a:t>
            </a:r>
            <a:r>
              <a:rPr sz="3000" spc="5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three</a:t>
            </a:r>
            <a:r>
              <a:rPr sz="3000" spc="6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decades,</a:t>
            </a:r>
            <a:r>
              <a:rPr sz="3000" spc="57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from </a:t>
            </a:r>
            <a:r>
              <a:rPr sz="3000" dirty="0">
                <a:latin typeface="Calibri"/>
                <a:cs typeface="Calibri"/>
              </a:rPr>
              <a:t>1905</a:t>
            </a:r>
            <a:r>
              <a:rPr sz="3000" spc="7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7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1934</a:t>
            </a:r>
            <a:r>
              <a:rPr sz="3000" spc="7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7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India</a:t>
            </a:r>
            <a:r>
              <a:rPr sz="3000" spc="7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slowly</a:t>
            </a:r>
            <a:r>
              <a:rPr sz="3000" spc="45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but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7240" y="2192020"/>
            <a:ext cx="3535679" cy="332994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A63B68A-7458-76F4-523E-353276E2A04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Pioneers</a:t>
            </a:r>
            <a:r>
              <a:rPr spc="-10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Organic</a:t>
            </a:r>
            <a:r>
              <a:rPr spc="-110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190" y="1062772"/>
            <a:ext cx="6801484" cy="5229225"/>
          </a:xfrm>
          <a:prstGeom prst="rect">
            <a:avLst/>
          </a:prstGeom>
        </p:spPr>
        <p:txBody>
          <a:bodyPr vert="horz" wrap="square" lIns="0" tIns="285115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2245"/>
              </a:spcBef>
              <a:buAutoNum type="arabicPeriod" startAt="2"/>
              <a:tabLst>
                <a:tab pos="516890" algn="l"/>
              </a:tabLst>
            </a:pPr>
            <a:r>
              <a:rPr sz="4000" b="1" dirty="0">
                <a:latin typeface="Calibri"/>
                <a:cs typeface="Calibri"/>
              </a:rPr>
              <a:t>Rudolf</a:t>
            </a:r>
            <a:r>
              <a:rPr sz="4000" b="1" spc="-9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Steiner</a:t>
            </a:r>
            <a:endParaRPr sz="4000">
              <a:latin typeface="Calibri"/>
              <a:cs typeface="Calibri"/>
            </a:endParaRPr>
          </a:p>
          <a:p>
            <a:pPr marL="469900" marR="5080" lvl="1" indent="-457200" algn="just">
              <a:lnSpc>
                <a:spcPct val="100000"/>
              </a:lnSpc>
              <a:spcBef>
                <a:spcPts val="1614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This</a:t>
            </a:r>
            <a:r>
              <a:rPr sz="3000" spc="7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Austrian</a:t>
            </a:r>
            <a:r>
              <a:rPr sz="3000" spc="7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philosopher</a:t>
            </a:r>
            <a:r>
              <a:rPr sz="3000" spc="7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outlined</a:t>
            </a:r>
            <a:r>
              <a:rPr sz="3000" spc="35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principles</a:t>
            </a:r>
            <a:r>
              <a:rPr sz="3000" spc="7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7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biodynamic</a:t>
            </a:r>
            <a:r>
              <a:rPr sz="3000" spc="7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agriculture</a:t>
            </a:r>
            <a:r>
              <a:rPr sz="3000" spc="72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1924,</a:t>
            </a:r>
            <a:r>
              <a:rPr sz="3000" spc="1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emphasizing</a:t>
            </a:r>
            <a:r>
              <a:rPr sz="3000" spc="18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7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importance</a:t>
            </a:r>
            <a:r>
              <a:rPr sz="3000" spc="170" dirty="0">
                <a:latin typeface="Calibri"/>
                <a:cs typeface="Calibri"/>
              </a:rPr>
              <a:t>  </a:t>
            </a:r>
            <a:r>
              <a:rPr sz="3000" spc="-3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agricultural</a:t>
            </a:r>
            <a:r>
              <a:rPr sz="3000" spc="1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production</a:t>
            </a:r>
            <a:r>
              <a:rPr sz="3000" spc="1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1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harmony</a:t>
            </a:r>
            <a:r>
              <a:rPr sz="3000" spc="17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with </a:t>
            </a:r>
            <a:r>
              <a:rPr sz="3000" dirty="0">
                <a:latin typeface="Calibri"/>
                <a:cs typeface="Calibri"/>
              </a:rPr>
              <a:t>nature</a:t>
            </a:r>
            <a:r>
              <a:rPr sz="3000" spc="550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560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well</a:t>
            </a:r>
            <a:r>
              <a:rPr sz="3000" spc="550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560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550" dirty="0">
                <a:latin typeface="Calibri"/>
                <a:cs typeface="Calibri"/>
              </a:rPr>
              <a:t>   </a:t>
            </a:r>
            <a:r>
              <a:rPr sz="3000" spc="-10" dirty="0">
                <a:latin typeface="Calibri"/>
                <a:cs typeface="Calibri"/>
              </a:rPr>
              <a:t>natural </a:t>
            </a:r>
            <a:r>
              <a:rPr sz="3000" dirty="0">
                <a:latin typeface="Calibri"/>
                <a:cs typeface="Calibri"/>
              </a:rPr>
              <a:t>phenomena</a:t>
            </a:r>
            <a:r>
              <a:rPr sz="3000" spc="1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1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spiritual</a:t>
            </a:r>
            <a:r>
              <a:rPr sz="3000" spc="1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dimensions.</a:t>
            </a:r>
            <a:r>
              <a:rPr sz="3000" spc="1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5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words</a:t>
            </a:r>
            <a:r>
              <a:rPr sz="3000" spc="5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5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Steiner:</a:t>
            </a:r>
            <a:r>
              <a:rPr sz="3000" spc="5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“Matter</a:t>
            </a:r>
            <a:r>
              <a:rPr sz="3000" spc="5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5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never </a:t>
            </a:r>
            <a:r>
              <a:rPr sz="3000" dirty="0">
                <a:latin typeface="Calibri"/>
                <a:cs typeface="Calibri"/>
              </a:rPr>
              <a:t>without</a:t>
            </a:r>
            <a:r>
              <a:rPr sz="3000" spc="62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Spirit,</a:t>
            </a:r>
            <a:r>
              <a:rPr sz="3000" spc="6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6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Spirit</a:t>
            </a:r>
            <a:r>
              <a:rPr sz="3000" spc="63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640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never </a:t>
            </a:r>
            <a:r>
              <a:rPr sz="3000" dirty="0">
                <a:latin typeface="Calibri"/>
                <a:cs typeface="Calibri"/>
              </a:rPr>
              <a:t>without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Matter.”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40" y="2186939"/>
            <a:ext cx="3322320" cy="332232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675E0-CA5A-B8CE-3B4B-585B569666D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90" y="258762"/>
            <a:ext cx="65830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Pioneers</a:t>
            </a:r>
            <a:r>
              <a:rPr spc="-10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Organic</a:t>
            </a:r>
            <a:r>
              <a:rPr spc="-110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190" y="789177"/>
            <a:ext cx="7705725" cy="5590540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1814"/>
              </a:spcBef>
              <a:buAutoNum type="arabicPeriod" startAt="3"/>
              <a:tabLst>
                <a:tab pos="516890" algn="l"/>
              </a:tabLst>
            </a:pPr>
            <a:r>
              <a:rPr sz="4000" b="1" dirty="0">
                <a:latin typeface="Calibri"/>
                <a:cs typeface="Calibri"/>
              </a:rPr>
              <a:t>Lady</a:t>
            </a:r>
            <a:r>
              <a:rPr sz="4000" b="1" spc="-8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Balfour</a:t>
            </a:r>
            <a:endParaRPr sz="4000">
              <a:latin typeface="Calibri"/>
              <a:cs typeface="Calibri"/>
            </a:endParaRPr>
          </a:p>
          <a:p>
            <a:pPr marL="469900" marR="5715" lvl="1" indent="-457200" algn="just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Lady</a:t>
            </a:r>
            <a:r>
              <a:rPr sz="3000" spc="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Eve</a:t>
            </a:r>
            <a:r>
              <a:rPr sz="3000" spc="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Balfour</a:t>
            </a:r>
            <a:r>
              <a:rPr sz="3000" spc="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published</a:t>
            </a:r>
            <a:r>
              <a:rPr sz="3000" spc="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“The</a:t>
            </a:r>
            <a:r>
              <a:rPr sz="3000" spc="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Living</a:t>
            </a:r>
            <a:r>
              <a:rPr sz="3000" spc="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Soil”</a:t>
            </a:r>
            <a:r>
              <a:rPr sz="3000" spc="8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United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Kingdom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(UK),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out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Soil </a:t>
            </a:r>
            <a:r>
              <a:rPr sz="3000" dirty="0">
                <a:latin typeface="Calibri"/>
                <a:cs typeface="Calibri"/>
              </a:rPr>
              <a:t>Association</a:t>
            </a:r>
            <a:r>
              <a:rPr sz="3000" spc="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UK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was</a:t>
            </a:r>
            <a:r>
              <a:rPr sz="3000" spc="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founded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1946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by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group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farmers,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scientists,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10" dirty="0">
                <a:latin typeface="Calibri"/>
                <a:cs typeface="Calibri"/>
              </a:rPr>
              <a:t> nutritionists </a:t>
            </a:r>
            <a:r>
              <a:rPr sz="3000" dirty="0">
                <a:latin typeface="Calibri"/>
                <a:cs typeface="Calibri"/>
              </a:rPr>
              <a:t>who</a:t>
            </a:r>
            <a:r>
              <a:rPr sz="3000" spc="40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observed</a:t>
            </a:r>
            <a:r>
              <a:rPr sz="3000" spc="39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direct</a:t>
            </a:r>
            <a:r>
              <a:rPr sz="3000" spc="39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connection</a:t>
            </a:r>
            <a:r>
              <a:rPr sz="3000" spc="405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between </a:t>
            </a:r>
            <a:r>
              <a:rPr sz="3000" dirty="0">
                <a:latin typeface="Calibri"/>
                <a:cs typeface="Calibri"/>
              </a:rPr>
              <a:t>farming</a:t>
            </a:r>
            <a:r>
              <a:rPr sz="3000" spc="1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practice</a:t>
            </a:r>
            <a:r>
              <a:rPr sz="3000" spc="15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1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plant,</a:t>
            </a:r>
            <a:r>
              <a:rPr sz="3000" spc="15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animal,</a:t>
            </a:r>
            <a:r>
              <a:rPr sz="3000" spc="145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human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environmental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health.</a:t>
            </a:r>
            <a:endParaRPr sz="3000">
              <a:latin typeface="Calibri"/>
              <a:cs typeface="Calibri"/>
            </a:endParaRPr>
          </a:p>
          <a:p>
            <a:pPr marL="469900" marR="5080" lvl="1" indent="-457200" algn="just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book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presented the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case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alternative, </a:t>
            </a:r>
            <a:r>
              <a:rPr sz="3000" dirty="0">
                <a:latin typeface="Calibri"/>
                <a:cs typeface="Calibri"/>
              </a:rPr>
              <a:t>sustainable</a:t>
            </a:r>
            <a:r>
              <a:rPr sz="3000" spc="5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approach</a:t>
            </a:r>
            <a:r>
              <a:rPr sz="3000" spc="5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5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agriculture</a:t>
            </a:r>
            <a:r>
              <a:rPr sz="3000" spc="5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5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has </a:t>
            </a:r>
            <a:r>
              <a:rPr sz="3000" dirty="0">
                <a:latin typeface="Calibri"/>
                <a:cs typeface="Calibri"/>
              </a:rPr>
              <a:t>since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become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known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organic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farming.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8659" y="1772920"/>
            <a:ext cx="2969259" cy="385572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27C45-24D1-3262-FC7B-2DC008E2288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90" y="155828"/>
            <a:ext cx="65836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Pioneers</a:t>
            </a:r>
            <a:r>
              <a:rPr spc="-150" dirty="0"/>
              <a:t> </a:t>
            </a:r>
            <a:r>
              <a:rPr dirty="0"/>
              <a:t>of</a:t>
            </a:r>
            <a:r>
              <a:rPr spc="-170" dirty="0"/>
              <a:t> </a:t>
            </a:r>
            <a:r>
              <a:rPr dirty="0"/>
              <a:t>Organic</a:t>
            </a:r>
            <a:r>
              <a:rPr spc="-150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390" y="3843718"/>
            <a:ext cx="658558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8280" algn="l"/>
                <a:tab pos="2877820" algn="l"/>
                <a:tab pos="3752215" algn="l"/>
                <a:tab pos="4824095" algn="l"/>
                <a:tab pos="5972175" algn="l"/>
              </a:tabLst>
            </a:pPr>
            <a:r>
              <a:rPr sz="2800" spc="-10" dirty="0">
                <a:latin typeface="Calibri"/>
                <a:cs typeface="Calibri"/>
              </a:rPr>
              <a:t>Rodale’s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primary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goal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when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World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War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90" y="3460495"/>
            <a:ext cx="724789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100"/>
              </a:spcBef>
              <a:tabLst>
                <a:tab pos="541020" algn="l"/>
                <a:tab pos="2227580" algn="l"/>
                <a:tab pos="3488054" algn="l"/>
                <a:tab pos="4206875" algn="l"/>
                <a:tab pos="5479415" algn="l"/>
                <a:tab pos="6854190" algn="l"/>
              </a:tabLst>
            </a:pP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rebuilding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natural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soil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fertility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became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J.I.</a:t>
            </a:r>
            <a:endParaRPr sz="2800">
              <a:latin typeface="Calibri"/>
              <a:cs typeface="Calibri"/>
            </a:endParaRPr>
          </a:p>
          <a:p>
            <a:pPr marR="5080" algn="r">
              <a:lnSpc>
                <a:spcPts val="3190"/>
              </a:lnSpc>
            </a:pPr>
            <a:r>
              <a:rPr sz="2800" spc="-20" dirty="0">
                <a:latin typeface="Calibri"/>
                <a:cs typeface="Calibri"/>
              </a:rPr>
              <a:t>II's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4230370"/>
            <a:ext cx="7247890" cy="1986914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 algn="just">
              <a:lnSpc>
                <a:spcPct val="89900"/>
              </a:lnSpc>
              <a:spcBef>
                <a:spcPts val="439"/>
              </a:spcBef>
            </a:pPr>
            <a:r>
              <a:rPr sz="2800" dirty="0">
                <a:latin typeface="Calibri"/>
                <a:cs typeface="Calibri"/>
              </a:rPr>
              <a:t>sudden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shortage</a:t>
            </a:r>
            <a:r>
              <a:rPr sz="2800" spc="2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nitrogen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2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diverted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dirty="0">
                <a:latin typeface="Calibri"/>
                <a:cs typeface="Calibri"/>
              </a:rPr>
              <a:t>fertilizers</a:t>
            </a:r>
            <a:r>
              <a:rPr sz="2800" spc="3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munitions,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exposed</a:t>
            </a:r>
            <a:r>
              <a:rPr sz="2800" spc="3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6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natural </a:t>
            </a:r>
            <a:r>
              <a:rPr sz="2800" dirty="0">
                <a:latin typeface="Calibri"/>
                <a:cs typeface="Calibri"/>
              </a:rPr>
              <a:t>nutrient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poverty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nation’s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soil.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1947,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J.I. </a:t>
            </a:r>
            <a:r>
              <a:rPr sz="2800" dirty="0">
                <a:latin typeface="Calibri"/>
                <a:cs typeface="Calibri"/>
              </a:rPr>
              <a:t>Rodale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founded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Soil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Health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Foundation,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forerunner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Rodale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Institute.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190" y="667023"/>
            <a:ext cx="7703820" cy="2861945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417830" indent="-405130" algn="just">
              <a:lnSpc>
                <a:spcPct val="100000"/>
              </a:lnSpc>
              <a:spcBef>
                <a:spcPts val="1710"/>
              </a:spcBef>
              <a:buAutoNum type="arabicPeriod" startAt="4"/>
              <a:tabLst>
                <a:tab pos="417830" algn="l"/>
              </a:tabLst>
            </a:pPr>
            <a:r>
              <a:rPr sz="3200" b="1" dirty="0">
                <a:latin typeface="Calibri"/>
                <a:cs typeface="Calibri"/>
              </a:rPr>
              <a:t>J.I.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Rodale</a:t>
            </a:r>
            <a:endParaRPr sz="3200">
              <a:latin typeface="Calibri"/>
              <a:cs typeface="Calibri"/>
            </a:endParaRPr>
          </a:p>
          <a:p>
            <a:pPr marL="468630" marR="5080" lvl="1" indent="-455930" algn="just">
              <a:lnSpc>
                <a:spcPct val="90100"/>
              </a:lnSpc>
              <a:spcBef>
                <a:spcPts val="1750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who</a:t>
            </a:r>
            <a:r>
              <a:rPr sz="2800" spc="27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learned</a:t>
            </a:r>
            <a:r>
              <a:rPr sz="2800" spc="26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27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26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food</a:t>
            </a:r>
            <a:r>
              <a:rPr sz="2800" spc="280" dirty="0">
                <a:latin typeface="Calibri"/>
                <a:cs typeface="Calibri"/>
              </a:rPr>
              <a:t>   </a:t>
            </a:r>
            <a:r>
              <a:rPr sz="2800" spc="-10" dirty="0">
                <a:latin typeface="Calibri"/>
                <a:cs typeface="Calibri"/>
              </a:rPr>
              <a:t>growing 	</a:t>
            </a:r>
            <a:r>
              <a:rPr sz="2800" dirty="0">
                <a:latin typeface="Calibri"/>
                <a:cs typeface="Calibri"/>
              </a:rPr>
              <a:t>methods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1930s,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quickly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theorized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preserve</a:t>
            </a:r>
            <a:r>
              <a:rPr sz="2800" spc="3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improve</a:t>
            </a:r>
            <a:r>
              <a:rPr sz="2800" spc="3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our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health,</a:t>
            </a:r>
            <a:r>
              <a:rPr sz="2800" spc="3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370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must 	</a:t>
            </a:r>
            <a:r>
              <a:rPr sz="2800" dirty="0">
                <a:latin typeface="Calibri"/>
                <a:cs typeface="Calibri"/>
              </a:rPr>
              <a:t>restore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protect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health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soil. 	</a:t>
            </a:r>
            <a:r>
              <a:rPr sz="2800" dirty="0">
                <a:latin typeface="Calibri"/>
                <a:cs typeface="Calibri"/>
              </a:rPr>
              <a:t>Developing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demonstrating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practical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900" y="1828800"/>
            <a:ext cx="2651759" cy="34366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268CE3-279A-79EA-34B4-D714BAE51FA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Pioneers</a:t>
            </a:r>
            <a:r>
              <a:rPr spc="-150" dirty="0"/>
              <a:t> </a:t>
            </a:r>
            <a:r>
              <a:rPr dirty="0"/>
              <a:t>of</a:t>
            </a:r>
            <a:r>
              <a:rPr spc="-170" dirty="0"/>
              <a:t> </a:t>
            </a:r>
            <a:r>
              <a:rPr dirty="0"/>
              <a:t>Organic</a:t>
            </a:r>
            <a:r>
              <a:rPr spc="-150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190" y="1023873"/>
            <a:ext cx="11483340" cy="479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indent="-45529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467995" algn="l"/>
              </a:tabLst>
            </a:pPr>
            <a:r>
              <a:rPr sz="3600" b="1" dirty="0">
                <a:latin typeface="Calibri"/>
                <a:cs typeface="Calibri"/>
              </a:rPr>
              <a:t>J.I.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Rodale</a:t>
            </a:r>
            <a:endParaRPr sz="3600">
              <a:latin typeface="Calibri"/>
              <a:cs typeface="Calibri"/>
            </a:endParaRPr>
          </a:p>
          <a:p>
            <a:pPr marL="468630" marR="6350" lvl="1" indent="-455930" algn="just">
              <a:lnSpc>
                <a:spcPct val="89900"/>
              </a:lnSpc>
              <a:spcBef>
                <a:spcPts val="3554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He</a:t>
            </a:r>
            <a:r>
              <a:rPr sz="3200" spc="7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7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created</a:t>
            </a:r>
            <a:r>
              <a:rPr sz="3200" spc="7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publications</a:t>
            </a:r>
            <a:r>
              <a:rPr sz="3200" spc="7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including</a:t>
            </a:r>
            <a:r>
              <a:rPr sz="3200" spc="7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Health</a:t>
            </a:r>
            <a:r>
              <a:rPr sz="3200" spc="7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Bulletin,</a:t>
            </a:r>
            <a:r>
              <a:rPr sz="3200" spc="7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Organic 	</a:t>
            </a:r>
            <a:r>
              <a:rPr sz="3200" dirty="0">
                <a:latin typeface="Calibri"/>
                <a:cs typeface="Calibri"/>
              </a:rPr>
              <a:t>Farming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Gardening,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Prevention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Magazine,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his 	</a:t>
            </a:r>
            <a:r>
              <a:rPr sz="3200" dirty="0">
                <a:latin typeface="Calibri"/>
                <a:cs typeface="Calibri"/>
              </a:rPr>
              <a:t>central</a:t>
            </a:r>
            <a:r>
              <a:rPr sz="3200" spc="2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message</a:t>
            </a:r>
            <a:r>
              <a:rPr sz="3200" spc="2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2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philosophy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"Healthy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Soil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Healthy</a:t>
            </a:r>
            <a:r>
              <a:rPr sz="3200" spc="2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Food</a:t>
            </a:r>
            <a:r>
              <a:rPr sz="3200" spc="24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= 	</a:t>
            </a:r>
            <a:r>
              <a:rPr sz="3200" dirty="0">
                <a:latin typeface="Calibri"/>
                <a:cs typeface="Calibri"/>
              </a:rPr>
              <a:t>Healthy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People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</a:t>
            </a:r>
            <a:r>
              <a:rPr sz="3200" spc="-25" dirty="0">
                <a:latin typeface="Calibri"/>
                <a:cs typeface="Calibri"/>
              </a:rPr>
              <a:t>“</a:t>
            </a:r>
            <a:endParaRPr sz="3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65"/>
              </a:spcBef>
              <a:buFont typeface="Arial MT"/>
              <a:buChar char="•"/>
            </a:pPr>
            <a:endParaRPr sz="3200">
              <a:latin typeface="Calibri"/>
              <a:cs typeface="Calibri"/>
            </a:endParaRPr>
          </a:p>
          <a:p>
            <a:pPr marL="468630" marR="5080" lvl="1" indent="-455930" algn="just">
              <a:lnSpc>
                <a:spcPct val="89900"/>
              </a:lnSpc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Today</a:t>
            </a:r>
            <a:r>
              <a:rPr sz="3200" spc="19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20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Rodale</a:t>
            </a:r>
            <a:r>
              <a:rPr sz="3200" spc="20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Institute</a:t>
            </a:r>
            <a:r>
              <a:rPr sz="3200" spc="19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works</a:t>
            </a:r>
            <a:r>
              <a:rPr sz="3200" spc="20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20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people</a:t>
            </a:r>
            <a:r>
              <a:rPr sz="3200" spc="20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worldwide</a:t>
            </a:r>
            <a:r>
              <a:rPr sz="3200" spc="19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to 	</a:t>
            </a:r>
            <a:r>
              <a:rPr sz="3200" dirty="0">
                <a:latin typeface="Calibri"/>
                <a:cs typeface="Calibri"/>
              </a:rPr>
              <a:t>achieve</a:t>
            </a:r>
            <a:r>
              <a:rPr sz="3200" spc="5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regenerative</a:t>
            </a:r>
            <a:r>
              <a:rPr sz="3200" spc="6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food</a:t>
            </a:r>
            <a:r>
              <a:rPr sz="3200" spc="5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5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5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renews</a:t>
            </a:r>
            <a:r>
              <a:rPr sz="3200" spc="6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environmental 	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human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health.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C9B67-2E00-8586-2815-4525E490A33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90" y="258762"/>
            <a:ext cx="65830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Pioneers</a:t>
            </a:r>
            <a:r>
              <a:rPr spc="-10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Organic</a:t>
            </a:r>
            <a:r>
              <a:rPr spc="-110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390" y="2209228"/>
            <a:ext cx="7249159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889760" algn="l"/>
                <a:tab pos="2791460" algn="l"/>
                <a:tab pos="4587875" algn="l"/>
                <a:tab pos="6859270" algn="l"/>
              </a:tabLst>
            </a:pPr>
            <a:r>
              <a:rPr sz="2800" spc="-10" dirty="0">
                <a:latin typeface="Calibri"/>
                <a:cs typeface="Calibri"/>
              </a:rPr>
              <a:t>developed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practiced: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“No-</a:t>
            </a:r>
            <a:r>
              <a:rPr sz="2800" spc="-10" dirty="0">
                <a:latin typeface="Calibri"/>
                <a:cs typeface="Calibri"/>
              </a:rPr>
              <a:t>plowing,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no </a:t>
            </a:r>
            <a:r>
              <a:rPr sz="2800" spc="-10" dirty="0">
                <a:latin typeface="Calibri"/>
                <a:cs typeface="Calibri"/>
              </a:rPr>
              <a:t>fertilizing,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4745" y="2636520"/>
            <a:ext cx="5552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2800" algn="l"/>
                <a:tab pos="3949700" algn="l"/>
                <a:tab pos="4511040" algn="l"/>
              </a:tabLst>
            </a:pPr>
            <a:r>
              <a:rPr sz="2800" spc="-20" dirty="0">
                <a:latin typeface="Calibri"/>
                <a:cs typeface="Calibri"/>
              </a:rPr>
              <a:t>no-</a:t>
            </a:r>
            <a:r>
              <a:rPr sz="2800" spc="-10" dirty="0">
                <a:latin typeface="Calibri"/>
                <a:cs typeface="Calibri"/>
              </a:rPr>
              <a:t>weeding,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do-</a:t>
            </a:r>
            <a:r>
              <a:rPr sz="2800" spc="-10" dirty="0">
                <a:latin typeface="Calibri"/>
                <a:cs typeface="Calibri"/>
              </a:rPr>
              <a:t>nothing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natural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3062922"/>
            <a:ext cx="7249795" cy="344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farming.”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him,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human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beings,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but </a:t>
            </a:r>
            <a:r>
              <a:rPr sz="2800" dirty="0">
                <a:latin typeface="Calibri"/>
                <a:cs typeface="Calibri"/>
              </a:rPr>
              <a:t>nature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grows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crops.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his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“Do-</a:t>
            </a:r>
            <a:r>
              <a:rPr sz="2800" spc="-10" dirty="0">
                <a:latin typeface="Calibri"/>
                <a:cs typeface="Calibri"/>
              </a:rPr>
              <a:t>Nothing” </a:t>
            </a:r>
            <a:r>
              <a:rPr sz="2800" dirty="0">
                <a:latin typeface="Calibri"/>
                <a:cs typeface="Calibri"/>
              </a:rPr>
              <a:t>method,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able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grow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cereals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yields </a:t>
            </a:r>
            <a:r>
              <a:rPr sz="2800" dirty="0">
                <a:latin typeface="Calibri"/>
                <a:cs typeface="Calibri"/>
              </a:rPr>
              <a:t>comparable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ones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intensive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cultivation. </a:t>
            </a:r>
            <a:r>
              <a:rPr sz="2800" dirty="0">
                <a:latin typeface="Calibri"/>
                <a:cs typeface="Calibri"/>
              </a:rPr>
              <a:t>Fukuoka’s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famous</a:t>
            </a:r>
            <a:r>
              <a:rPr sz="2800" spc="5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books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“The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Natural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36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7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Farming”</a:t>
            </a:r>
            <a:r>
              <a:rPr sz="2800" spc="37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7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“The</a:t>
            </a:r>
            <a:r>
              <a:rPr sz="2800" spc="36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365" dirty="0">
                <a:latin typeface="Calibri"/>
                <a:cs typeface="Calibri"/>
              </a:rPr>
              <a:t>   </a:t>
            </a:r>
            <a:r>
              <a:rPr sz="2800" spc="-10" dirty="0">
                <a:latin typeface="Calibri"/>
                <a:cs typeface="Calibri"/>
              </a:rPr>
              <a:t>Straw </a:t>
            </a:r>
            <a:r>
              <a:rPr sz="2800" dirty="0">
                <a:latin typeface="Calibri"/>
                <a:cs typeface="Calibri"/>
              </a:rPr>
              <a:t>Revolution.”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Masanobu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Fukuoka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passed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away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2008.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190" y="769982"/>
            <a:ext cx="7706359" cy="1464945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1964"/>
              </a:spcBef>
              <a:buAutoNum type="arabicPeriod" startAt="5"/>
              <a:tabLst>
                <a:tab pos="516890" algn="l"/>
              </a:tabLst>
            </a:pPr>
            <a:r>
              <a:rPr sz="4000" b="1" dirty="0">
                <a:latin typeface="Calibri"/>
                <a:cs typeface="Calibri"/>
              </a:rPr>
              <a:t>Masanobu</a:t>
            </a:r>
            <a:r>
              <a:rPr sz="4000" b="1" spc="-17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Fukuoka</a:t>
            </a:r>
            <a:endParaRPr sz="4000">
              <a:latin typeface="Calibri"/>
              <a:cs typeface="Calibri"/>
            </a:endParaRPr>
          </a:p>
          <a:p>
            <a:pPr marL="469265" lvl="1" indent="-456565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469265" algn="l"/>
                <a:tab pos="1132840" algn="l"/>
                <a:tab pos="2910840" algn="l"/>
                <a:tab pos="4404995" algn="l"/>
                <a:tab pos="6393815" algn="l"/>
              </a:tabLst>
            </a:pP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Japanese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farmer,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Masanobu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Fukuoka,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3740" y="1940560"/>
            <a:ext cx="3495040" cy="33909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DA30AC-69C2-6145-B1EC-BFCA1B6549C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90" y="258762"/>
            <a:ext cx="65830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Pioneers</a:t>
            </a:r>
            <a:r>
              <a:rPr spc="-105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Organic</a:t>
            </a:r>
            <a:r>
              <a:rPr spc="-110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390" y="2636520"/>
            <a:ext cx="556514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99540" algn="l"/>
                <a:tab pos="2219960" algn="l"/>
                <a:tab pos="2809240" algn="l"/>
                <a:tab pos="2974340" algn="l"/>
                <a:tab pos="4217035" algn="l"/>
                <a:tab pos="4780915" algn="l"/>
              </a:tabLst>
            </a:pPr>
            <a:r>
              <a:rPr sz="2800" spc="-10" dirty="0">
                <a:latin typeface="Calibri"/>
                <a:cs typeface="Calibri"/>
              </a:rPr>
              <a:t>farming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systems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suitable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 </a:t>
            </a:r>
            <a:r>
              <a:rPr sz="2800" spc="-10" dirty="0">
                <a:latin typeface="Calibri"/>
                <a:cs typeface="Calibri"/>
              </a:rPr>
              <a:t>environments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	</a:t>
            </a:r>
            <a:r>
              <a:rPr sz="2800" spc="-10" dirty="0">
                <a:latin typeface="Calibri"/>
                <a:cs typeface="Calibri"/>
              </a:rPr>
              <a:t>conditions,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often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43979" y="2636520"/>
            <a:ext cx="151257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 marR="5080" indent="-15240">
              <a:lnSpc>
                <a:spcPct val="100000"/>
              </a:lnSpc>
              <a:spcBef>
                <a:spcPts val="100"/>
              </a:spcBef>
              <a:tabLst>
                <a:tab pos="878840" algn="l"/>
              </a:tabLst>
            </a:pPr>
            <a:r>
              <a:rPr sz="2800" spc="-10" dirty="0">
                <a:latin typeface="Calibri"/>
                <a:cs typeface="Calibri"/>
              </a:rPr>
              <a:t>respective </a:t>
            </a:r>
            <a:r>
              <a:rPr sz="2800" spc="-20" dirty="0">
                <a:latin typeface="Calibri"/>
                <a:cs typeface="Calibri"/>
              </a:rPr>
              <a:t>with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very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3490341"/>
            <a:ext cx="7247890" cy="301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little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means,</a:t>
            </a:r>
            <a:r>
              <a:rPr sz="2800" spc="6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much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hard</a:t>
            </a:r>
            <a:r>
              <a:rPr sz="2800" spc="6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work,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6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unrelenting </a:t>
            </a:r>
            <a:r>
              <a:rPr sz="2800" dirty="0">
                <a:latin typeface="Calibri"/>
                <a:cs typeface="Calibri"/>
              </a:rPr>
              <a:t>determination.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Together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pioneering </a:t>
            </a:r>
            <a:r>
              <a:rPr sz="2800" dirty="0">
                <a:latin typeface="Calibri"/>
                <a:cs typeface="Calibri"/>
              </a:rPr>
              <a:t>practitioners,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consumers,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advocates,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stakeholders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helped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convert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OA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marginalized,</a:t>
            </a:r>
            <a:r>
              <a:rPr sz="2800" spc="3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voluntary</a:t>
            </a:r>
            <a:r>
              <a:rPr sz="2800" spc="3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3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1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widely </a:t>
            </a:r>
            <a:r>
              <a:rPr sz="2800" dirty="0">
                <a:latin typeface="Calibri"/>
                <a:cs typeface="Calibri"/>
              </a:rPr>
              <a:t>recognized</a:t>
            </a:r>
            <a:r>
              <a:rPr sz="2800" spc="1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agricultural</a:t>
            </a:r>
            <a:r>
              <a:rPr sz="2800" spc="1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production</a:t>
            </a:r>
            <a:r>
              <a:rPr sz="2800" spc="1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global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industry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190" y="769982"/>
            <a:ext cx="8662035" cy="1892300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516890" indent="-504190">
              <a:lnSpc>
                <a:spcPct val="100000"/>
              </a:lnSpc>
              <a:spcBef>
                <a:spcPts val="1964"/>
              </a:spcBef>
              <a:buAutoNum type="arabicPeriod" startAt="6"/>
              <a:tabLst>
                <a:tab pos="516890" algn="l"/>
              </a:tabLst>
            </a:pPr>
            <a:r>
              <a:rPr sz="4000" b="1" dirty="0">
                <a:latin typeface="Calibri"/>
                <a:cs typeface="Calibri"/>
              </a:rPr>
              <a:t>The</a:t>
            </a:r>
            <a:r>
              <a:rPr sz="4000" b="1" spc="-9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Real</a:t>
            </a:r>
            <a:r>
              <a:rPr sz="4000" b="1" spc="-9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Heroes</a:t>
            </a:r>
            <a:r>
              <a:rPr sz="4000" b="1" spc="-12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of</a:t>
            </a:r>
            <a:r>
              <a:rPr sz="4000" b="1" spc="-9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Organic</a:t>
            </a:r>
            <a:r>
              <a:rPr sz="4000" b="1" spc="-9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Agriculture</a:t>
            </a:r>
            <a:endParaRPr sz="4000">
              <a:latin typeface="Calibri"/>
              <a:cs typeface="Calibri"/>
            </a:endParaRPr>
          </a:p>
          <a:p>
            <a:pPr marL="469900" marR="958850" lvl="1" indent="-457200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469900" algn="l"/>
                <a:tab pos="1330960" algn="l"/>
                <a:tab pos="2169160" algn="l"/>
                <a:tab pos="3063240" algn="l"/>
                <a:tab pos="4910455" algn="l"/>
                <a:tab pos="663511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heroes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OA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farmer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women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men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who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have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relentlessly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developed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organic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1919" y="1953260"/>
            <a:ext cx="2420620" cy="20015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1919" y="4193540"/>
            <a:ext cx="2364739" cy="213868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7C2A463-AE57-4019-1941-CE835AF644C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DEVELOPMENTS</a:t>
            </a:r>
            <a:r>
              <a:rPr spc="-9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ORGANIC</a:t>
            </a:r>
            <a:r>
              <a:rPr spc="-60" dirty="0"/>
              <a:t> </a:t>
            </a:r>
            <a:r>
              <a:rPr spc="-10" dirty="0"/>
              <a:t>AGRICULTURE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6459" y="0"/>
            <a:ext cx="2148840" cy="13868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0190" y="1264675"/>
            <a:ext cx="10865485" cy="514096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65"/>
              </a:spcBef>
            </a:pPr>
            <a:r>
              <a:rPr sz="3000" b="1" dirty="0">
                <a:latin typeface="Calibri"/>
                <a:cs typeface="Calibri"/>
              </a:rPr>
              <a:t>IFOAM</a:t>
            </a:r>
            <a:r>
              <a:rPr sz="3000" b="1" spc="-10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(International</a:t>
            </a:r>
            <a:r>
              <a:rPr sz="3000" i="1" spc="-9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Federation</a:t>
            </a:r>
            <a:r>
              <a:rPr sz="3000" i="1" spc="-8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of</a:t>
            </a:r>
            <a:r>
              <a:rPr sz="3000" i="1" spc="-9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Organic</a:t>
            </a:r>
            <a:r>
              <a:rPr sz="3000" i="1" spc="-9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Agriculture</a:t>
            </a:r>
            <a:r>
              <a:rPr sz="3000" i="1" spc="-50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Movements)</a:t>
            </a:r>
            <a:endParaRPr sz="3000">
              <a:latin typeface="Calibri"/>
              <a:cs typeface="Calibri"/>
            </a:endParaRPr>
          </a:p>
          <a:p>
            <a:pPr marL="12700" marR="6350" algn="just">
              <a:lnSpc>
                <a:spcPts val="3020"/>
              </a:lnSpc>
              <a:spcBef>
                <a:spcPts val="1380"/>
              </a:spcBef>
            </a:pP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The</a:t>
            </a:r>
            <a:r>
              <a:rPr sz="2800" b="1" spc="145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beginnings</a:t>
            </a:r>
            <a:r>
              <a:rPr sz="2800" b="1" spc="150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of</a:t>
            </a:r>
            <a:r>
              <a:rPr sz="2800" b="1" spc="145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IFOAM</a:t>
            </a:r>
            <a:r>
              <a:rPr sz="2800" b="1" spc="155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–</a:t>
            </a:r>
            <a:r>
              <a:rPr sz="2800" b="1" spc="150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Organics</a:t>
            </a:r>
            <a:r>
              <a:rPr sz="2800" b="1" spc="160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International</a:t>
            </a:r>
            <a:r>
              <a:rPr sz="2800" b="1" spc="145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trace</a:t>
            </a:r>
            <a:r>
              <a:rPr sz="2800" b="1" spc="150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back</a:t>
            </a:r>
            <a:r>
              <a:rPr sz="2800" b="1" spc="160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to</a:t>
            </a:r>
            <a:r>
              <a:rPr sz="2800" b="1" spc="150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b="1" spc="-50" dirty="0">
                <a:solidFill>
                  <a:srgbClr val="1D1D1B"/>
                </a:solidFill>
                <a:latin typeface="Calibri"/>
                <a:cs typeface="Calibri"/>
              </a:rPr>
              <a:t>a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meeting</a:t>
            </a:r>
            <a:r>
              <a:rPr sz="2800" b="1" spc="-7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in</a:t>
            </a:r>
            <a:r>
              <a:rPr sz="2800" b="1" spc="-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D1D1B"/>
                </a:solidFill>
                <a:latin typeface="Calibri"/>
                <a:cs typeface="Calibri"/>
              </a:rPr>
              <a:t>Versailles,</a:t>
            </a:r>
            <a:r>
              <a:rPr sz="2800" b="1" spc="-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France</a:t>
            </a:r>
            <a:r>
              <a:rPr sz="2800" b="1" spc="-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D1D1B"/>
                </a:solidFill>
                <a:latin typeface="Calibri"/>
                <a:cs typeface="Calibri"/>
              </a:rPr>
              <a:t>in</a:t>
            </a:r>
            <a:r>
              <a:rPr sz="2800" b="1" spc="-8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D1D1B"/>
                </a:solidFill>
                <a:latin typeface="Calibri"/>
                <a:cs typeface="Calibri"/>
              </a:rPr>
              <a:t>1972.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  <a:spcBef>
                <a:spcPts val="975"/>
              </a:spcBef>
            </a:pP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Roland</a:t>
            </a:r>
            <a:r>
              <a:rPr sz="2800" spc="114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Chevriot,</a:t>
            </a:r>
            <a:r>
              <a:rPr sz="2800" spc="95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of</a:t>
            </a:r>
            <a:r>
              <a:rPr sz="2800" spc="110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Nature</a:t>
            </a:r>
            <a:r>
              <a:rPr sz="2800" spc="105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et</a:t>
            </a:r>
            <a:r>
              <a:rPr sz="2800" spc="105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Progrès</a:t>
            </a:r>
            <a:r>
              <a:rPr sz="2800" spc="110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(French</a:t>
            </a:r>
            <a:r>
              <a:rPr sz="2800" spc="114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farmers'</a:t>
            </a:r>
            <a:r>
              <a:rPr sz="2800" spc="110" dirty="0">
                <a:solidFill>
                  <a:srgbClr val="1D1D1B"/>
                </a:solidFill>
                <a:latin typeface="Calibri"/>
                <a:cs typeface="Calibri"/>
              </a:rPr>
              <a:t>  </a:t>
            </a:r>
            <a:r>
              <a:rPr sz="2800" spc="-10" dirty="0">
                <a:solidFill>
                  <a:srgbClr val="1D1D1B"/>
                </a:solidFill>
                <a:latin typeface="Calibri"/>
                <a:cs typeface="Calibri"/>
              </a:rPr>
              <a:t>organization),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envisioned</a:t>
            </a:r>
            <a:r>
              <a:rPr sz="2800" spc="-1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the</a:t>
            </a:r>
            <a:r>
              <a:rPr sz="2800" spc="-3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need</a:t>
            </a:r>
            <a:r>
              <a:rPr sz="2800" spc="-3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for</a:t>
            </a:r>
            <a:r>
              <a:rPr sz="2800" spc="-4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organic</a:t>
            </a:r>
            <a:r>
              <a:rPr sz="2800" spc="-4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agriculture</a:t>
            </a:r>
            <a:r>
              <a:rPr sz="2800" spc="-3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movements</a:t>
            </a:r>
            <a:r>
              <a:rPr sz="2800" spc="-3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to</a:t>
            </a:r>
            <a:r>
              <a:rPr sz="2800" spc="-4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coordinate</a:t>
            </a:r>
            <a:r>
              <a:rPr sz="2800" spc="-5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D1D1B"/>
                </a:solidFill>
                <a:latin typeface="Calibri"/>
                <a:cs typeface="Calibri"/>
              </a:rPr>
              <a:t>their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actions</a:t>
            </a:r>
            <a:r>
              <a:rPr sz="2800" spc="11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as</a:t>
            </a:r>
            <a:r>
              <a:rPr sz="2800" spc="10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well</a:t>
            </a:r>
            <a:r>
              <a:rPr sz="2800" spc="9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as</a:t>
            </a:r>
            <a:r>
              <a:rPr sz="2800" spc="8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to</a:t>
            </a:r>
            <a:r>
              <a:rPr sz="2800" spc="10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enable</a:t>
            </a:r>
            <a:r>
              <a:rPr sz="2800" spc="11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scientific</a:t>
            </a:r>
            <a:r>
              <a:rPr sz="2800" spc="9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and</a:t>
            </a:r>
            <a:r>
              <a:rPr sz="2800" spc="9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experimental</a:t>
            </a:r>
            <a:r>
              <a:rPr sz="2800" spc="9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data</a:t>
            </a:r>
            <a:r>
              <a:rPr sz="2800" spc="10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on</a:t>
            </a:r>
            <a:r>
              <a:rPr sz="2800" spc="10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organic</a:t>
            </a:r>
            <a:r>
              <a:rPr sz="2800" spc="9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D1D1B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cross</a:t>
            </a:r>
            <a:r>
              <a:rPr sz="2800" spc="3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borders.</a:t>
            </a:r>
            <a:r>
              <a:rPr sz="2800" spc="35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In</a:t>
            </a:r>
            <a:r>
              <a:rPr sz="2800" spc="3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order</a:t>
            </a:r>
            <a:r>
              <a:rPr sz="2800" spc="35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to</a:t>
            </a:r>
            <a:r>
              <a:rPr sz="2800" spc="33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realize</a:t>
            </a:r>
            <a:r>
              <a:rPr sz="2800" spc="34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this</a:t>
            </a:r>
            <a:r>
              <a:rPr sz="2800" spc="35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vision,</a:t>
            </a:r>
            <a:r>
              <a:rPr sz="2800" spc="3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he</a:t>
            </a:r>
            <a:r>
              <a:rPr sz="2800" spc="35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invited</a:t>
            </a:r>
            <a:r>
              <a:rPr sz="2800" spc="36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organic</a:t>
            </a:r>
            <a:r>
              <a:rPr sz="2800" spc="34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D1D1B"/>
                </a:solidFill>
                <a:latin typeface="Calibri"/>
                <a:cs typeface="Calibri"/>
              </a:rPr>
              <a:t>pioneers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including</a:t>
            </a:r>
            <a:r>
              <a:rPr sz="2800" spc="7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Lady</a:t>
            </a:r>
            <a:r>
              <a:rPr sz="2800" spc="7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Eve</a:t>
            </a:r>
            <a:r>
              <a:rPr sz="2800" spc="8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D1D1B"/>
                </a:solidFill>
                <a:latin typeface="Calibri"/>
                <a:cs typeface="Calibri"/>
              </a:rPr>
              <a:t>Balfour,</a:t>
            </a:r>
            <a:r>
              <a:rPr sz="2800" spc="8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founder</a:t>
            </a:r>
            <a:r>
              <a:rPr sz="2800" spc="8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of</a:t>
            </a:r>
            <a:r>
              <a:rPr sz="2800" spc="8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the</a:t>
            </a:r>
            <a:r>
              <a:rPr sz="2800" spc="7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UK</a:t>
            </a:r>
            <a:r>
              <a:rPr sz="2800" spc="8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Soil</a:t>
            </a:r>
            <a:r>
              <a:rPr sz="2800" spc="7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Association,</a:t>
            </a:r>
            <a:r>
              <a:rPr sz="2800" spc="7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Kjell</a:t>
            </a:r>
            <a:r>
              <a:rPr sz="2800" spc="7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D1D1B"/>
                </a:solidFill>
                <a:latin typeface="Calibri"/>
                <a:cs typeface="Calibri"/>
              </a:rPr>
              <a:t>Arman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from</a:t>
            </a:r>
            <a:r>
              <a:rPr sz="2800" spc="1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the</a:t>
            </a:r>
            <a:r>
              <a:rPr sz="2800" spc="17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Swedish</a:t>
            </a:r>
            <a:r>
              <a:rPr sz="2800" spc="15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Biodynamic</a:t>
            </a:r>
            <a:r>
              <a:rPr sz="2800" spc="15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Association</a:t>
            </a:r>
            <a:r>
              <a:rPr sz="2800" spc="17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and</a:t>
            </a:r>
            <a:r>
              <a:rPr sz="2800" spc="1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Jerome</a:t>
            </a:r>
            <a:r>
              <a:rPr sz="2800" spc="16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Goldstein</a:t>
            </a:r>
            <a:r>
              <a:rPr sz="2800" spc="17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from</a:t>
            </a:r>
            <a:r>
              <a:rPr sz="2800" spc="16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D1D1B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Rodale</a:t>
            </a:r>
            <a:r>
              <a:rPr sz="2800" spc="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Institute to</a:t>
            </a:r>
            <a:r>
              <a:rPr sz="2800" spc="1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join</a:t>
            </a:r>
            <a:r>
              <a:rPr sz="2800" spc="2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him</a:t>
            </a:r>
            <a:r>
              <a:rPr sz="2800" spc="1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in</a:t>
            </a:r>
            <a:r>
              <a:rPr sz="2800" spc="1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D1D1B"/>
                </a:solidFill>
                <a:latin typeface="Calibri"/>
                <a:cs typeface="Calibri"/>
              </a:rPr>
              <a:t>Versailles</a:t>
            </a:r>
            <a:r>
              <a:rPr sz="2800" spc="1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to</a:t>
            </a:r>
            <a:r>
              <a:rPr sz="2800" spc="1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set</a:t>
            </a:r>
            <a:r>
              <a:rPr sz="2800" spc="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the International</a:t>
            </a:r>
            <a:r>
              <a:rPr sz="2800" spc="1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D1D1B"/>
                </a:solidFill>
                <a:latin typeface="Calibri"/>
                <a:cs typeface="Calibri"/>
              </a:rPr>
              <a:t>Federation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of</a:t>
            </a:r>
            <a:r>
              <a:rPr sz="2800" spc="6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Organic</a:t>
            </a:r>
            <a:r>
              <a:rPr sz="2800" spc="67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Agriculture</a:t>
            </a:r>
            <a:r>
              <a:rPr sz="2800" spc="66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Movements</a:t>
            </a:r>
            <a:r>
              <a:rPr sz="2800" spc="66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(IFOAM</a:t>
            </a:r>
            <a:r>
              <a:rPr sz="2800" spc="68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-</a:t>
            </a:r>
            <a:r>
              <a:rPr sz="2800" spc="67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Organics</a:t>
            </a:r>
            <a:r>
              <a:rPr sz="2800" spc="675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D1D1B"/>
                </a:solidFill>
                <a:latin typeface="Calibri"/>
                <a:cs typeface="Calibri"/>
              </a:rPr>
              <a:t>International)</a:t>
            </a:r>
            <a:r>
              <a:rPr sz="2800" spc="670" dirty="0">
                <a:solidFill>
                  <a:srgbClr val="1D1D1B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1D1D1B"/>
                </a:solidFill>
                <a:latin typeface="Calibri"/>
                <a:cs typeface="Calibri"/>
              </a:rPr>
              <a:t>in </a:t>
            </a:r>
            <a:r>
              <a:rPr sz="2800" spc="-10" dirty="0">
                <a:solidFill>
                  <a:srgbClr val="1D1D1B"/>
                </a:solidFill>
                <a:latin typeface="Calibri"/>
                <a:cs typeface="Calibri"/>
              </a:rPr>
              <a:t>motion.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4886E-B85D-E4C6-6D01-55FFA5DFD26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" y="304800"/>
            <a:ext cx="4937760" cy="64185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64454" y="135254"/>
            <a:ext cx="6786880" cy="661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From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there,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working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alternative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agriculture </a:t>
            </a:r>
            <a:r>
              <a:rPr sz="2400" dirty="0">
                <a:latin typeface="Calibri"/>
                <a:cs typeface="Calibri"/>
              </a:rPr>
              <a:t>banded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together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from,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initially,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far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apart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India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England.</a:t>
            </a:r>
            <a:r>
              <a:rPr sz="2400" spc="5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2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German</a:t>
            </a:r>
            <a:r>
              <a:rPr sz="2400" spc="22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speaking</a:t>
            </a:r>
            <a:r>
              <a:rPr sz="2400" spc="59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European </a:t>
            </a:r>
            <a:r>
              <a:rPr sz="2400" dirty="0">
                <a:latin typeface="Calibri"/>
                <a:cs typeface="Calibri"/>
              </a:rPr>
              <a:t>countries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(Germany,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Austria,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Switzerland),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France,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Canada,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too,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provided</a:t>
            </a:r>
            <a:r>
              <a:rPr sz="2400" spc="3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participation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IFOAM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activities.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1980s,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IFOAM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leaders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US,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attracted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involvement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African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agents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OA,</a:t>
            </a:r>
            <a:r>
              <a:rPr sz="2400" spc="5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inspired</a:t>
            </a:r>
            <a:r>
              <a:rPr sz="2400" spc="5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assisted</a:t>
            </a:r>
            <a:r>
              <a:rPr sz="2400" spc="5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bourgeoning</a:t>
            </a:r>
            <a:r>
              <a:rPr sz="2400" spc="5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organic </a:t>
            </a:r>
            <a:r>
              <a:rPr sz="2400" dirty="0">
                <a:latin typeface="Calibri"/>
                <a:cs typeface="Calibri"/>
              </a:rPr>
              <a:t>movements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America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Asia.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3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Philippines,</a:t>
            </a:r>
            <a:r>
              <a:rPr sz="2400" spc="3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organic</a:t>
            </a:r>
            <a:r>
              <a:rPr sz="2400" spc="3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movement</a:t>
            </a:r>
            <a:r>
              <a:rPr sz="2400" spc="31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industry,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absence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government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recognition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5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5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5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5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stage,</a:t>
            </a:r>
            <a:r>
              <a:rPr sz="2400" spc="5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5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5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developed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networking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IFOAM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member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organization.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1997,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Philippine</a:t>
            </a:r>
            <a:r>
              <a:rPr sz="2400" spc="5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members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IFOAM</a:t>
            </a:r>
            <a:r>
              <a:rPr sz="2400" spc="5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organized</a:t>
            </a:r>
            <a:r>
              <a:rPr sz="2400" spc="5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IFOAM </a:t>
            </a:r>
            <a:r>
              <a:rPr sz="2400" dirty="0">
                <a:latin typeface="Calibri"/>
                <a:cs typeface="Calibri"/>
              </a:rPr>
              <a:t>Asia</a:t>
            </a:r>
            <a:r>
              <a:rPr sz="2400" spc="4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conference</a:t>
            </a:r>
            <a:r>
              <a:rPr sz="2400" spc="45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Tagaytay.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Today,</a:t>
            </a:r>
            <a:r>
              <a:rPr sz="2400" spc="4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Filipino</a:t>
            </a:r>
            <a:r>
              <a:rPr sz="2400" spc="4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organic </a:t>
            </a:r>
            <a:r>
              <a:rPr sz="2400" dirty="0">
                <a:latin typeface="Calibri"/>
                <a:cs typeface="Calibri"/>
              </a:rPr>
              <a:t>producers</a:t>
            </a:r>
            <a:r>
              <a:rPr sz="2400" spc="1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advocates</a:t>
            </a:r>
            <a:r>
              <a:rPr sz="2400" spc="1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actively</a:t>
            </a:r>
            <a:r>
              <a:rPr sz="2400" spc="1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engaged</a:t>
            </a:r>
            <a:r>
              <a:rPr sz="2400" spc="17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IFOAM.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E64D8-C73F-95ED-3F2E-3D9CE5C3FC4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877" y="1193546"/>
            <a:ext cx="696785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92200" algn="l"/>
                <a:tab pos="1859280" algn="l"/>
                <a:tab pos="3251835" algn="l"/>
                <a:tab pos="4087495" algn="l"/>
                <a:tab pos="4524375" algn="l"/>
                <a:tab pos="5668010" algn="l"/>
              </a:tabLst>
            </a:pPr>
            <a:r>
              <a:rPr sz="2800" dirty="0">
                <a:latin typeface="Calibri"/>
                <a:cs typeface="Calibri"/>
              </a:rPr>
              <a:t>IFOAM,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formally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founded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seven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members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1974,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has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evolved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global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umbrella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877" y="2047240"/>
            <a:ext cx="6970395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>
              <a:lnSpc>
                <a:spcPct val="100000"/>
              </a:lnSpc>
              <a:spcBef>
                <a:spcPts val="100"/>
              </a:spcBef>
              <a:tabLst>
                <a:tab pos="2050414" algn="l"/>
                <a:tab pos="2941320" algn="l"/>
                <a:tab pos="3841115" algn="l"/>
                <a:tab pos="4636135" algn="l"/>
                <a:tab pos="6257290" algn="l"/>
              </a:tabLst>
            </a:pPr>
            <a:r>
              <a:rPr sz="2800" spc="-10" dirty="0">
                <a:latin typeface="Calibri"/>
                <a:cs typeface="Calibri"/>
              </a:rPr>
              <a:t>organization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with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over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800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members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from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120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countries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territories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2022.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1160780" algn="l"/>
                <a:tab pos="1539240" algn="l"/>
                <a:tab pos="3195955" algn="l"/>
                <a:tab pos="3648075" algn="l"/>
                <a:tab pos="5032375" algn="l"/>
              </a:tabLst>
            </a:pPr>
            <a:r>
              <a:rPr sz="2800" spc="-10" dirty="0">
                <a:latin typeface="Calibri"/>
                <a:cs typeface="Calibri"/>
              </a:rPr>
              <a:t>IFOAM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composed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member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organizations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variety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sectors:</a:t>
            </a:r>
            <a:endParaRPr sz="2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spcBef>
                <a:spcPts val="5"/>
              </a:spcBef>
              <a:buChar char="•"/>
              <a:tabLst>
                <a:tab pos="271780" algn="l"/>
              </a:tabLst>
            </a:pPr>
            <a:r>
              <a:rPr sz="2800" spc="-10" dirty="0">
                <a:latin typeface="Calibri"/>
                <a:cs typeface="Calibri"/>
              </a:rPr>
              <a:t>Producers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877" y="4181855"/>
            <a:ext cx="5615940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780" indent="-259079">
              <a:lnSpc>
                <a:spcPts val="3360"/>
              </a:lnSpc>
              <a:spcBef>
                <a:spcPts val="100"/>
              </a:spcBef>
              <a:buChar char="•"/>
              <a:tabLst>
                <a:tab pos="271780" algn="l"/>
              </a:tabLst>
            </a:pPr>
            <a:r>
              <a:rPr sz="2800" dirty="0">
                <a:latin typeface="Calibri"/>
                <a:cs typeface="Calibri"/>
              </a:rPr>
              <a:t>Inspection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certification</a:t>
            </a:r>
            <a:endParaRPr sz="2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buChar char="•"/>
              <a:tabLst>
                <a:tab pos="271780" algn="l"/>
              </a:tabLst>
            </a:pPr>
            <a:r>
              <a:rPr sz="2800" spc="-30" dirty="0">
                <a:latin typeface="Calibri"/>
                <a:cs typeface="Calibri"/>
              </a:rPr>
              <a:t>Trade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processing</a:t>
            </a:r>
            <a:endParaRPr sz="2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buChar char="•"/>
              <a:tabLst>
                <a:tab pos="271780" algn="l"/>
              </a:tabLst>
            </a:pPr>
            <a:r>
              <a:rPr sz="2800" dirty="0">
                <a:latin typeface="Calibri"/>
                <a:cs typeface="Calibri"/>
              </a:rPr>
              <a:t>Research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education</a:t>
            </a:r>
            <a:endParaRPr sz="2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buChar char="•"/>
              <a:tabLst>
                <a:tab pos="271780" algn="l"/>
              </a:tabLst>
            </a:pPr>
            <a:r>
              <a:rPr sz="2800" dirty="0">
                <a:latin typeface="Calibri"/>
                <a:cs typeface="Calibri"/>
              </a:rPr>
              <a:t>Consultancies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extension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services</a:t>
            </a:r>
            <a:endParaRPr sz="2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spcBef>
                <a:spcPts val="5"/>
              </a:spcBef>
              <a:buChar char="•"/>
              <a:tabLst>
                <a:tab pos="271780" algn="l"/>
              </a:tabLst>
            </a:pPr>
            <a:r>
              <a:rPr sz="2800" spc="-20" dirty="0">
                <a:latin typeface="Calibri"/>
                <a:cs typeface="Calibri"/>
              </a:rPr>
              <a:t>NGOs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6741" y="1477327"/>
            <a:ext cx="434086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435100" algn="l"/>
                <a:tab pos="2303780" algn="l"/>
                <a:tab pos="2748280" algn="l"/>
                <a:tab pos="3182620" algn="l"/>
                <a:tab pos="3843020" algn="l"/>
              </a:tabLst>
            </a:pPr>
            <a:r>
              <a:rPr sz="2800" spc="-10" dirty="0">
                <a:latin typeface="Calibri"/>
                <a:cs typeface="Calibri"/>
              </a:rPr>
              <a:t>IFOAM's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mission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leading, uniting,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6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assisting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06741" y="2331148"/>
            <a:ext cx="434086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226820" algn="l"/>
                <a:tab pos="2948940" algn="l"/>
                <a:tab pos="3373120" algn="l"/>
                <a:tab pos="3868420" algn="l"/>
              </a:tabLst>
            </a:pPr>
            <a:r>
              <a:rPr sz="2800" spc="-10" dirty="0">
                <a:latin typeface="Calibri"/>
                <a:cs typeface="Calibri"/>
              </a:rPr>
              <a:t>organic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movement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full </a:t>
            </a:r>
            <a:r>
              <a:rPr sz="2800" spc="-10" dirty="0">
                <a:latin typeface="Calibri"/>
                <a:cs typeface="Calibri"/>
              </a:rPr>
              <a:t>diversity.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4591" y="4333240"/>
            <a:ext cx="5033645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IFOAM’s</a:t>
            </a:r>
            <a:r>
              <a:rPr sz="2800" spc="2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goal</a:t>
            </a:r>
            <a:r>
              <a:rPr sz="2800" spc="2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8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worldwide </a:t>
            </a:r>
            <a:r>
              <a:rPr sz="2800" dirty="0">
                <a:latin typeface="Calibri"/>
                <a:cs typeface="Calibri"/>
              </a:rPr>
              <a:t>adoption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ecologically,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socially,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economically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sound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systems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principles.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3440" y="3336135"/>
            <a:ext cx="2496197" cy="8481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3440" y="137160"/>
            <a:ext cx="2763103" cy="12420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0240" y="104139"/>
            <a:ext cx="4820920" cy="1064259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27B4146-B37D-CF3B-2C94-771853A52C4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World</a:t>
            </a:r>
            <a:r>
              <a:rPr spc="-130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-10" dirty="0"/>
              <a:t>Organic</a:t>
            </a:r>
            <a:r>
              <a:rPr spc="-135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190" y="1169670"/>
            <a:ext cx="5768975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According</a:t>
            </a:r>
            <a:r>
              <a:rPr sz="2800" spc="5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8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8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survey</a:t>
            </a:r>
            <a:r>
              <a:rPr sz="2800" spc="5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50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organic </a:t>
            </a:r>
            <a:r>
              <a:rPr sz="2800" dirty="0">
                <a:latin typeface="Calibri"/>
                <a:cs typeface="Calibri"/>
              </a:rPr>
              <a:t>farming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worldwide:</a:t>
            </a:r>
            <a:endParaRPr sz="2800">
              <a:latin typeface="Calibri"/>
              <a:cs typeface="Calibri"/>
            </a:endParaRPr>
          </a:p>
          <a:p>
            <a:pPr marL="468630" marR="5080" indent="-455930" algn="just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30.4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million</a:t>
            </a:r>
            <a:r>
              <a:rPr sz="2800" spc="2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hectares</a:t>
            </a:r>
            <a:r>
              <a:rPr sz="2800" spc="2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(M</a:t>
            </a:r>
            <a:r>
              <a:rPr sz="2800" spc="20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ha)</a:t>
            </a:r>
            <a:r>
              <a:rPr sz="2800" spc="204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dirty="0">
                <a:latin typeface="Calibri"/>
                <a:cs typeface="Calibri"/>
              </a:rPr>
              <a:t>managed</a:t>
            </a:r>
            <a:r>
              <a:rPr sz="2800" spc="5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organically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5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than 	</a:t>
            </a:r>
            <a:r>
              <a:rPr sz="2800" dirty="0">
                <a:latin typeface="Calibri"/>
                <a:cs typeface="Calibri"/>
              </a:rPr>
              <a:t>700,000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farms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(2006).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0190" y="3303587"/>
            <a:ext cx="30213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1412240" algn="l"/>
              </a:tabLst>
            </a:pPr>
            <a:r>
              <a:rPr sz="2800" spc="-20" dirty="0">
                <a:latin typeface="Calibri"/>
                <a:cs typeface="Calibri"/>
              </a:rPr>
              <a:t>This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constitutes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6165" y="3303587"/>
            <a:ext cx="2413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7300" algn="l"/>
                <a:tab pos="1915160" algn="l"/>
              </a:tabLst>
            </a:pPr>
            <a:r>
              <a:rPr sz="2800" spc="-10" dirty="0">
                <a:latin typeface="Calibri"/>
                <a:cs typeface="Calibri"/>
              </a:rPr>
              <a:t>0.65%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390" y="3730879"/>
            <a:ext cx="530987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agricultural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land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countries </a:t>
            </a:r>
            <a:r>
              <a:rPr sz="2800" dirty="0">
                <a:latin typeface="Calibri"/>
                <a:cs typeface="Calibri"/>
              </a:rPr>
              <a:t>covered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survey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(see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chapter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main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results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global </a:t>
            </a: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665" dirty="0">
                <a:latin typeface="Calibri"/>
                <a:cs typeface="Calibri"/>
              </a:rPr>
              <a:t>    </a:t>
            </a:r>
            <a:r>
              <a:rPr sz="2800" dirty="0">
                <a:latin typeface="Calibri"/>
                <a:cs typeface="Calibri"/>
              </a:rPr>
              <a:t>survey</a:t>
            </a:r>
            <a:r>
              <a:rPr sz="2800" spc="670" dirty="0">
                <a:latin typeface="Calibri"/>
                <a:cs typeface="Calibri"/>
              </a:rPr>
              <a:t>    </a:t>
            </a:r>
            <a:r>
              <a:rPr sz="2800" dirty="0">
                <a:latin typeface="Calibri"/>
                <a:cs typeface="Calibri"/>
              </a:rPr>
              <a:t>2008</a:t>
            </a:r>
            <a:r>
              <a:rPr sz="2800" spc="680" dirty="0">
                <a:latin typeface="Calibri"/>
                <a:cs typeface="Calibri"/>
              </a:rPr>
              <a:t>   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corresponding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annex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9859" y="1147445"/>
            <a:ext cx="11449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total,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9859" y="1573847"/>
            <a:ext cx="5445125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Oceania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holds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42%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world’s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land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Europe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(24%)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Latin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America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(16%).</a:t>
            </a:r>
            <a:endParaRPr sz="2800">
              <a:latin typeface="Calibri"/>
              <a:cs typeface="Calibri"/>
            </a:endParaRPr>
          </a:p>
          <a:p>
            <a:pPr marL="12700" marR="6350">
              <a:lnSpc>
                <a:spcPct val="100000"/>
              </a:lnSpc>
              <a:tabLst>
                <a:tab pos="525780" algn="l"/>
                <a:tab pos="990600" algn="l"/>
                <a:tab pos="1968500" algn="l"/>
                <a:tab pos="2621280" algn="l"/>
                <a:tab pos="4138295" algn="l"/>
                <a:tab pos="4946015" algn="l"/>
              </a:tabLst>
            </a:pPr>
            <a:r>
              <a:rPr sz="2800" spc="-2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2006,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countries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with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greatest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are:</a:t>
            </a:r>
            <a:endParaRPr sz="2800">
              <a:latin typeface="Calibri"/>
              <a:cs typeface="Calibri"/>
            </a:endParaRPr>
          </a:p>
          <a:p>
            <a:pPr marL="551180" indent="-53848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51180" algn="l"/>
              </a:tabLst>
            </a:pPr>
            <a:r>
              <a:rPr sz="2800" spc="-10" dirty="0">
                <a:latin typeface="Calibri"/>
                <a:cs typeface="Calibri"/>
              </a:rPr>
              <a:t>Australia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(12.3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ha)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China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(2.3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ha)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Argentina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(2.2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ha),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US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(1.6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47436A0-E6AF-3F4C-E846-0F7F7D04744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Organic</a:t>
            </a:r>
            <a:r>
              <a:rPr spc="-225" dirty="0"/>
              <a:t> </a:t>
            </a:r>
            <a:r>
              <a:rPr dirty="0"/>
              <a:t>Agriculture:</a:t>
            </a:r>
            <a:r>
              <a:rPr spc="-210" dirty="0"/>
              <a:t> </a:t>
            </a:r>
            <a:r>
              <a:rPr spc="-10" dirty="0"/>
              <a:t>Philippines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190" y="1279271"/>
            <a:ext cx="576897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indent="812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2013-</a:t>
            </a:r>
            <a:r>
              <a:rPr sz="2800" dirty="0">
                <a:latin typeface="Calibri"/>
                <a:cs typeface="Calibri"/>
              </a:rPr>
              <a:t>2015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IFOAM-</a:t>
            </a:r>
            <a:r>
              <a:rPr sz="2800" spc="-20" dirty="0">
                <a:latin typeface="Calibri"/>
                <a:cs typeface="Calibri"/>
              </a:rPr>
              <a:t>FiBL </a:t>
            </a:r>
            <a:r>
              <a:rPr sz="2800" dirty="0">
                <a:latin typeface="Calibri"/>
                <a:cs typeface="Calibri"/>
              </a:rPr>
              <a:t>surveys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2013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2015: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  <a:tab pos="2306320" algn="l"/>
                <a:tab pos="3459479" algn="l"/>
                <a:tab pos="4112895" algn="l"/>
                <a:tab pos="5273675" algn="l"/>
              </a:tabLst>
            </a:pPr>
            <a:r>
              <a:rPr sz="2800" spc="-10" dirty="0">
                <a:latin typeface="Calibri"/>
                <a:cs typeface="Calibri"/>
              </a:rPr>
              <a:t>Worldwide,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ranked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8th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among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90" y="2560065"/>
            <a:ext cx="417258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3440" algn="l"/>
                <a:tab pos="1562100" algn="l"/>
                <a:tab pos="3256915" algn="l"/>
              </a:tabLst>
            </a:pPr>
            <a:r>
              <a:rPr sz="2800" spc="-25" dirty="0">
                <a:latin typeface="Calibri"/>
                <a:cs typeface="Calibri"/>
              </a:rPr>
              <a:t>top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10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countries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with</a:t>
            </a:r>
            <a:endParaRPr sz="2800">
              <a:latin typeface="Calibri"/>
              <a:cs typeface="Calibri"/>
            </a:endParaRPr>
          </a:p>
          <a:p>
            <a:pPr marL="3533775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land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40046" y="2560065"/>
            <a:ext cx="10775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marR="5080" indent="-24892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Calibri"/>
                <a:cs typeface="Calibri"/>
              </a:rPr>
              <a:t>highest </a:t>
            </a:r>
            <a:r>
              <a:rPr sz="2800" spc="-25" dirty="0">
                <a:latin typeface="Calibri"/>
                <a:cs typeface="Calibri"/>
              </a:rPr>
              <a:t>(from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390" y="2986341"/>
            <a:ext cx="530733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46860" algn="l"/>
                <a:tab pos="2146300" algn="l"/>
              </a:tabLst>
            </a:pPr>
            <a:r>
              <a:rPr sz="2800" spc="-10" dirty="0">
                <a:latin typeface="Calibri"/>
                <a:cs typeface="Calibri"/>
              </a:rPr>
              <a:t>increase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organic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582420" algn="l"/>
                <a:tab pos="3213735" algn="l"/>
                <a:tab pos="3876675" algn="l"/>
                <a:tab pos="4991735" algn="l"/>
              </a:tabLst>
            </a:pPr>
            <a:r>
              <a:rPr sz="2800" spc="-10" dirty="0">
                <a:latin typeface="Calibri"/>
                <a:cs typeface="Calibri"/>
              </a:rPr>
              <a:t>110,084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hectares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2014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190" y="3840162"/>
            <a:ext cx="5767070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234,642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hectares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2015)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  <a:tab pos="904240" algn="l"/>
                <a:tab pos="1747520" algn="l"/>
                <a:tab pos="2893060" algn="l"/>
                <a:tab pos="3357879" algn="l"/>
                <a:tab pos="4001135" algn="l"/>
                <a:tab pos="4643755" algn="l"/>
              </a:tabLst>
            </a:pP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Asia,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ranked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4th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country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largest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area.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  <a:tab pos="316992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ASEAN,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ranked</a:t>
            </a:r>
            <a:r>
              <a:rPr sz="2800" dirty="0">
                <a:latin typeface="Calibri"/>
                <a:cs typeface="Calibri"/>
              </a:rPr>
              <a:t>	number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largest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farmland.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9640" algn="l"/>
                <a:tab pos="2624455" algn="l"/>
                <a:tab pos="3170555" algn="l"/>
                <a:tab pos="4519295" algn="l"/>
                <a:tab pos="5091430" algn="l"/>
              </a:tabLst>
            </a:pPr>
            <a:r>
              <a:rPr spc="-10" dirty="0"/>
              <a:t>Fully</a:t>
            </a:r>
            <a:r>
              <a:rPr dirty="0"/>
              <a:t>	</a:t>
            </a:r>
            <a:r>
              <a:rPr spc="-10" dirty="0"/>
              <a:t>converted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Organic</a:t>
            </a:r>
            <a:r>
              <a:rPr dirty="0"/>
              <a:t>	</a:t>
            </a:r>
            <a:r>
              <a:rPr sz="2400" spc="-25" dirty="0"/>
              <a:t>(as</a:t>
            </a:r>
            <a:r>
              <a:rPr sz="2400" dirty="0"/>
              <a:t>	</a:t>
            </a:r>
            <a:r>
              <a:rPr sz="2400" spc="-25" dirty="0"/>
              <a:t>of</a:t>
            </a:r>
            <a:endParaRPr sz="2400"/>
          </a:p>
          <a:p>
            <a:pPr marL="12700">
              <a:lnSpc>
                <a:spcPct val="100000"/>
              </a:lnSpc>
            </a:pPr>
            <a:r>
              <a:rPr sz="2400" spc="-10" dirty="0"/>
              <a:t>2015)</a:t>
            </a:r>
            <a:r>
              <a:rPr spc="-10" dirty="0"/>
              <a:t>:</a:t>
            </a:r>
            <a:endParaRPr sz="2400"/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/>
              <a:t>508</a:t>
            </a:r>
            <a:r>
              <a:rPr spc="-25" dirty="0"/>
              <a:t> </a:t>
            </a:r>
            <a:r>
              <a:rPr dirty="0"/>
              <a:t>hectares</a:t>
            </a:r>
            <a:r>
              <a:rPr spc="-6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0" dirty="0"/>
              <a:t>rice</a:t>
            </a: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/>
              <a:t>9,909</a:t>
            </a:r>
            <a:r>
              <a:rPr spc="-40" dirty="0"/>
              <a:t> </a:t>
            </a:r>
            <a:r>
              <a:rPr dirty="0"/>
              <a:t>hectares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fruits</a:t>
            </a: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/>
              <a:t>10</a:t>
            </a:r>
            <a:r>
              <a:rPr spc="-50" dirty="0"/>
              <a:t> </a:t>
            </a:r>
            <a:r>
              <a:rPr dirty="0"/>
              <a:t>hectares</a:t>
            </a:r>
            <a:r>
              <a:rPr spc="-5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cocoa</a:t>
            </a:r>
            <a:r>
              <a:rPr spc="-45" dirty="0"/>
              <a:t> </a:t>
            </a:r>
            <a:r>
              <a:rPr spc="-10" dirty="0"/>
              <a:t>beans</a:t>
            </a: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/>
              <a:t>6</a:t>
            </a:r>
            <a:r>
              <a:rPr spc="-35" dirty="0"/>
              <a:t> </a:t>
            </a:r>
            <a:r>
              <a:rPr dirty="0"/>
              <a:t>hectares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vegetables</a:t>
            </a:r>
          </a:p>
          <a:p>
            <a:pPr marL="12700" marR="5080" algn="just">
              <a:lnSpc>
                <a:spcPct val="100000"/>
              </a:lnSpc>
              <a:spcBef>
                <a:spcPts val="3360"/>
              </a:spcBef>
            </a:pPr>
            <a:r>
              <a:rPr dirty="0"/>
              <a:t>Of</a:t>
            </a:r>
            <a:r>
              <a:rPr spc="200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dirty="0"/>
              <a:t>2.4</a:t>
            </a:r>
            <a:r>
              <a:rPr spc="215" dirty="0"/>
              <a:t> </a:t>
            </a:r>
            <a:r>
              <a:rPr dirty="0"/>
              <a:t>million</a:t>
            </a:r>
            <a:r>
              <a:rPr spc="204" dirty="0"/>
              <a:t> </a:t>
            </a:r>
            <a:r>
              <a:rPr dirty="0"/>
              <a:t>organic</a:t>
            </a:r>
            <a:r>
              <a:rPr spc="195" dirty="0"/>
              <a:t> </a:t>
            </a:r>
            <a:r>
              <a:rPr spc="-10" dirty="0"/>
              <a:t>producers </a:t>
            </a:r>
            <a:r>
              <a:rPr dirty="0"/>
              <a:t>worldwide,</a:t>
            </a:r>
            <a:r>
              <a:rPr spc="235" dirty="0"/>
              <a:t>  </a:t>
            </a:r>
            <a:r>
              <a:rPr dirty="0"/>
              <a:t>the</a:t>
            </a:r>
            <a:r>
              <a:rPr spc="215" dirty="0"/>
              <a:t>  </a:t>
            </a:r>
            <a:r>
              <a:rPr dirty="0"/>
              <a:t>Philippines</a:t>
            </a:r>
            <a:r>
              <a:rPr spc="235" dirty="0"/>
              <a:t>  </a:t>
            </a:r>
            <a:r>
              <a:rPr spc="-25" dirty="0"/>
              <a:t>ranked </a:t>
            </a:r>
            <a:r>
              <a:rPr dirty="0"/>
              <a:t>5th</a:t>
            </a:r>
            <a:r>
              <a:rPr spc="465" dirty="0"/>
              <a:t>  </a:t>
            </a:r>
            <a:r>
              <a:rPr dirty="0"/>
              <a:t>among</a:t>
            </a:r>
            <a:r>
              <a:rPr spc="459" dirty="0"/>
              <a:t>  </a:t>
            </a:r>
            <a:r>
              <a:rPr dirty="0"/>
              <a:t>countries</a:t>
            </a:r>
            <a:r>
              <a:rPr spc="465" dirty="0"/>
              <a:t>  </a:t>
            </a:r>
            <a:r>
              <a:rPr dirty="0"/>
              <a:t>with</a:t>
            </a:r>
            <a:r>
              <a:rPr spc="455" dirty="0"/>
              <a:t>  </a:t>
            </a:r>
            <a:r>
              <a:rPr spc="-20" dirty="0"/>
              <a:t>most </a:t>
            </a:r>
            <a:r>
              <a:rPr dirty="0"/>
              <a:t>organic</a:t>
            </a:r>
            <a:r>
              <a:rPr spc="-85" dirty="0"/>
              <a:t> </a:t>
            </a:r>
            <a:r>
              <a:rPr spc="-10" dirty="0"/>
              <a:t>practitioners</a:t>
            </a:r>
            <a:r>
              <a:rPr spc="-100" dirty="0"/>
              <a:t> </a:t>
            </a:r>
            <a:r>
              <a:rPr spc="-10" dirty="0"/>
              <a:t>(165,958).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2F82E1D-037F-FABD-49ED-4987D17196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70" y="1844089"/>
            <a:ext cx="6447379" cy="400423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533400"/>
            <a:ext cx="12192000" cy="6324600"/>
            <a:chOff x="0" y="533400"/>
            <a:chExt cx="12192000" cy="6324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136639"/>
              <a:ext cx="12191999" cy="72135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9260" y="533400"/>
              <a:ext cx="5298440" cy="611632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29400" y="261620"/>
            <a:ext cx="5394959" cy="1600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5002AE-59F7-3407-0729-64A94557D45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90" y="132079"/>
            <a:ext cx="66668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Organic</a:t>
            </a:r>
            <a:r>
              <a:rPr spc="-225" dirty="0"/>
              <a:t> </a:t>
            </a:r>
            <a:r>
              <a:rPr dirty="0"/>
              <a:t>Agriculture:</a:t>
            </a:r>
            <a:r>
              <a:rPr spc="-204" dirty="0"/>
              <a:t> </a:t>
            </a:r>
            <a:r>
              <a:rPr spc="-10" dirty="0"/>
              <a:t>Philippines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190" y="849947"/>
            <a:ext cx="5769610" cy="514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OA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10" dirty="0">
                <a:latin typeface="Calibri"/>
                <a:cs typeface="Calibri"/>
              </a:rPr>
              <a:t> progressed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tremendously:</a:t>
            </a:r>
            <a:endParaRPr sz="2800">
              <a:latin typeface="Calibri"/>
              <a:cs typeface="Calibri"/>
            </a:endParaRPr>
          </a:p>
          <a:p>
            <a:pPr marL="12700" marR="5715" indent="441325">
              <a:lnSpc>
                <a:spcPct val="100000"/>
              </a:lnSpc>
              <a:spcBef>
                <a:spcPts val="5"/>
              </a:spcBef>
              <a:buChar char="•"/>
              <a:tabLst>
                <a:tab pos="454025" algn="l"/>
                <a:tab pos="2755900" algn="l"/>
                <a:tab pos="4369435" algn="l"/>
              </a:tabLst>
            </a:pPr>
            <a:r>
              <a:rPr sz="2800" spc="-10" dirty="0">
                <a:latin typeface="Calibri"/>
                <a:cs typeface="Calibri"/>
              </a:rPr>
              <a:t>Government’s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proactive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initiatives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policies</a:t>
            </a:r>
            <a:endParaRPr sz="2800">
              <a:latin typeface="Calibri"/>
              <a:cs typeface="Calibri"/>
            </a:endParaRPr>
          </a:p>
          <a:p>
            <a:pPr marL="12700" marR="5080" indent="382905">
              <a:lnSpc>
                <a:spcPct val="100000"/>
              </a:lnSpc>
              <a:buChar char="•"/>
              <a:tabLst>
                <a:tab pos="395605" algn="l"/>
                <a:tab pos="1338580" algn="l"/>
                <a:tab pos="2684780" algn="l"/>
                <a:tab pos="3304540" algn="l"/>
                <a:tab pos="4453255" algn="l"/>
                <a:tab pos="4961255" algn="l"/>
              </a:tabLst>
            </a:pPr>
            <a:r>
              <a:rPr sz="2800" spc="-10" dirty="0">
                <a:latin typeface="Calibri"/>
                <a:cs typeface="Calibri"/>
              </a:rPr>
              <a:t>Local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certifier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export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other countries</a:t>
            </a:r>
            <a:endParaRPr sz="2800">
              <a:latin typeface="Calibri"/>
              <a:cs typeface="Calibri"/>
            </a:endParaRPr>
          </a:p>
          <a:p>
            <a:pPr marL="12700" marR="6350" indent="673100">
              <a:lnSpc>
                <a:spcPct val="100000"/>
              </a:lnSpc>
              <a:spcBef>
                <a:spcPts val="5"/>
              </a:spcBef>
              <a:buChar char="•"/>
              <a:tabLst>
                <a:tab pos="685800" algn="l"/>
                <a:tab pos="2484120" algn="l"/>
                <a:tab pos="4257675" algn="l"/>
                <a:tab pos="5045075" algn="l"/>
              </a:tabLst>
            </a:pPr>
            <a:r>
              <a:rPr sz="2800" spc="-10" dirty="0">
                <a:latin typeface="Calibri"/>
                <a:cs typeface="Calibri"/>
              </a:rPr>
              <a:t>Research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activities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state </a:t>
            </a:r>
            <a:r>
              <a:rPr sz="2800" spc="-10" dirty="0">
                <a:latin typeface="Calibri"/>
                <a:cs typeface="Calibri"/>
              </a:rPr>
              <a:t>universities</a:t>
            </a:r>
            <a:endParaRPr sz="2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buChar char="•"/>
              <a:tabLst>
                <a:tab pos="271780" algn="l"/>
              </a:tabLst>
            </a:pPr>
            <a:r>
              <a:rPr sz="2800" dirty="0">
                <a:latin typeface="Calibri"/>
                <a:cs typeface="Calibri"/>
              </a:rPr>
              <a:t>Increased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opportunities</a:t>
            </a:r>
            <a:endParaRPr sz="2800">
              <a:latin typeface="Calibri"/>
              <a:cs typeface="Calibri"/>
            </a:endParaRPr>
          </a:p>
          <a:p>
            <a:pPr marL="12700" marR="5715" indent="266700">
              <a:lnSpc>
                <a:spcPct val="100000"/>
              </a:lnSpc>
              <a:spcBef>
                <a:spcPts val="5"/>
              </a:spcBef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Inclusion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subjects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curriculum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colleges</a:t>
            </a:r>
            <a:endParaRPr sz="2800">
              <a:latin typeface="Calibri"/>
              <a:cs typeface="Calibri"/>
            </a:endParaRPr>
          </a:p>
          <a:p>
            <a:pPr marL="12700" marR="6350" indent="390525">
              <a:lnSpc>
                <a:spcPct val="100000"/>
              </a:lnSpc>
              <a:buChar char="•"/>
              <a:tabLst>
                <a:tab pos="403225" algn="l"/>
                <a:tab pos="1305560" algn="l"/>
                <a:tab pos="2633980" algn="l"/>
                <a:tab pos="4239895" algn="l"/>
                <a:tab pos="4750435" algn="l"/>
              </a:tabLst>
            </a:pPr>
            <a:r>
              <a:rPr sz="2800" spc="-10" dirty="0">
                <a:latin typeface="Calibri"/>
                <a:cs typeface="Calibri"/>
              </a:rPr>
              <a:t>Joint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venture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initiatives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private </a:t>
            </a:r>
            <a:r>
              <a:rPr sz="2800" dirty="0">
                <a:latin typeface="Calibri"/>
                <a:cs typeface="Calibri"/>
              </a:rPr>
              <a:t>sector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government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55383" y="849947"/>
            <a:ext cx="5189220" cy="301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294640">
              <a:lnSpc>
                <a:spcPct val="100000"/>
              </a:lnSpc>
              <a:spcBef>
                <a:spcPts val="100"/>
              </a:spcBef>
              <a:buChar char="•"/>
              <a:tabLst>
                <a:tab pos="307340" algn="l"/>
              </a:tabLst>
            </a:pPr>
            <a:r>
              <a:rPr sz="2800" dirty="0">
                <a:latin typeface="Calibri"/>
                <a:cs typeface="Calibri"/>
              </a:rPr>
              <a:t>Increased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supply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diversity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organic</a:t>
            </a:r>
            <a:endParaRPr sz="2800">
              <a:latin typeface="Calibri"/>
              <a:cs typeface="Calibri"/>
            </a:endParaRPr>
          </a:p>
          <a:p>
            <a:pPr marL="12700" marR="5715">
              <a:lnSpc>
                <a:spcPct val="100000"/>
              </a:lnSpc>
              <a:spcBef>
                <a:spcPts val="5"/>
              </a:spcBef>
              <a:tabLst>
                <a:tab pos="1653539" algn="l"/>
                <a:tab pos="2387600" algn="l"/>
                <a:tab pos="4156075" algn="l"/>
              </a:tabLst>
            </a:pPr>
            <a:r>
              <a:rPr sz="2800" spc="-10" dirty="0">
                <a:latin typeface="Calibri"/>
                <a:cs typeface="Calibri"/>
              </a:rPr>
              <a:t>produce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domestic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market </a:t>
            </a:r>
            <a:r>
              <a:rPr sz="2800" dirty="0">
                <a:latin typeface="Calibri"/>
                <a:cs typeface="Calibri"/>
              </a:rPr>
              <a:t>outside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Metro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Manila</a:t>
            </a:r>
            <a:endParaRPr sz="2800">
              <a:latin typeface="Calibri"/>
              <a:cs typeface="Calibri"/>
            </a:endParaRPr>
          </a:p>
          <a:p>
            <a:pPr marL="12700" marR="5080" indent="378460">
              <a:lnSpc>
                <a:spcPct val="100000"/>
              </a:lnSpc>
              <a:spcBef>
                <a:spcPts val="5"/>
              </a:spcBef>
              <a:buChar char="•"/>
              <a:tabLst>
                <a:tab pos="391160" algn="l"/>
                <a:tab pos="1988820" algn="l"/>
                <a:tab pos="3134995" algn="l"/>
                <a:tab pos="3632835" algn="l"/>
              </a:tabLst>
            </a:pPr>
            <a:r>
              <a:rPr sz="2800" spc="-10" dirty="0">
                <a:latin typeface="Calibri"/>
                <a:cs typeface="Calibri"/>
              </a:rPr>
              <a:t>Increased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export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organically </a:t>
            </a:r>
            <a:r>
              <a:rPr sz="2800" spc="-10" dirty="0">
                <a:latin typeface="Calibri"/>
                <a:cs typeface="Calibri"/>
              </a:rPr>
              <a:t>certified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produce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D72D-468B-AAD6-1F86-D8B73E1EA5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190" y="258762"/>
            <a:ext cx="10466070" cy="5514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latin typeface="Calibri"/>
                <a:cs typeface="Calibri"/>
              </a:rPr>
              <a:t>References: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5"/>
              </a:spcBef>
            </a:pPr>
            <a:r>
              <a:rPr sz="4000" b="1" spc="-10" dirty="0">
                <a:latin typeface="Calibri"/>
                <a:cs typeface="Calibri"/>
              </a:rPr>
              <a:t>-Agricultural</a:t>
            </a:r>
            <a:r>
              <a:rPr sz="4000" b="1" spc="-130" dirty="0">
                <a:latin typeface="Calibri"/>
                <a:cs typeface="Calibri"/>
              </a:rPr>
              <a:t> </a:t>
            </a:r>
            <a:r>
              <a:rPr sz="4000" b="1" spc="-35" dirty="0">
                <a:latin typeface="Calibri"/>
                <a:cs typeface="Calibri"/>
              </a:rPr>
              <a:t>Training</a:t>
            </a:r>
            <a:r>
              <a:rPr sz="4000" b="1" spc="-17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Institute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000" b="1" spc="-10" dirty="0">
                <a:latin typeface="Calibri"/>
                <a:cs typeface="Calibri"/>
              </a:rPr>
              <a:t>-</a:t>
            </a:r>
            <a:r>
              <a:rPr sz="4000" b="1" dirty="0">
                <a:latin typeface="Calibri"/>
                <a:cs typeface="Calibri"/>
              </a:rPr>
              <a:t>Certification</a:t>
            </a:r>
            <a:r>
              <a:rPr sz="4000" b="1" spc="-13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of</a:t>
            </a:r>
            <a:r>
              <a:rPr sz="4000" b="1" spc="-13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Environmental</a:t>
            </a:r>
            <a:r>
              <a:rPr sz="4000" b="1" spc="-13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Standards</a:t>
            </a:r>
            <a:r>
              <a:rPr sz="4000" b="1" spc="-13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(CERES)</a:t>
            </a:r>
            <a:endParaRPr sz="4000">
              <a:latin typeface="Calibri"/>
              <a:cs typeface="Calibri"/>
            </a:endParaRPr>
          </a:p>
          <a:p>
            <a:pPr marL="12700" marR="417830">
              <a:lnSpc>
                <a:spcPct val="100000"/>
              </a:lnSpc>
              <a:spcBef>
                <a:spcPts val="5"/>
              </a:spcBef>
            </a:pPr>
            <a:r>
              <a:rPr sz="4000" b="1" spc="-10" dirty="0">
                <a:latin typeface="Calibri"/>
                <a:cs typeface="Calibri"/>
              </a:rPr>
              <a:t>-International</a:t>
            </a:r>
            <a:r>
              <a:rPr sz="4000" b="1" spc="-12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Federation</a:t>
            </a:r>
            <a:r>
              <a:rPr sz="4000" b="1" spc="-14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of</a:t>
            </a:r>
            <a:r>
              <a:rPr sz="4000" b="1" spc="-1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Organic</a:t>
            </a:r>
            <a:r>
              <a:rPr sz="4000" b="1" spc="-1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Agriculture </a:t>
            </a:r>
            <a:r>
              <a:rPr sz="4000" b="1" dirty="0">
                <a:latin typeface="Calibri"/>
                <a:cs typeface="Calibri"/>
              </a:rPr>
              <a:t>Movement</a:t>
            </a:r>
            <a:r>
              <a:rPr sz="4000" b="1" spc="-18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(IFOAM)</a:t>
            </a:r>
            <a:endParaRPr sz="4000">
              <a:latin typeface="Calibri"/>
              <a:cs typeface="Calibri"/>
            </a:endParaRPr>
          </a:p>
          <a:p>
            <a:pPr marL="12700" marR="139700">
              <a:lnSpc>
                <a:spcPct val="100000"/>
              </a:lnSpc>
            </a:pPr>
            <a:r>
              <a:rPr sz="4000" b="1" spc="-10" dirty="0">
                <a:latin typeface="Calibri"/>
                <a:cs typeface="Calibri"/>
              </a:rPr>
              <a:t>-</a:t>
            </a:r>
            <a:r>
              <a:rPr sz="4000" b="1" dirty="0">
                <a:latin typeface="Calibri"/>
                <a:cs typeface="Calibri"/>
              </a:rPr>
              <a:t>National</a:t>
            </a:r>
            <a:r>
              <a:rPr sz="4000" b="1" spc="-16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Organic</a:t>
            </a:r>
            <a:r>
              <a:rPr sz="4000" b="1" spc="-16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Agriculture</a:t>
            </a:r>
            <a:r>
              <a:rPr sz="4000" b="1" spc="-13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Program</a:t>
            </a:r>
            <a:r>
              <a:rPr sz="4000" b="1" spc="-18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/</a:t>
            </a:r>
            <a:r>
              <a:rPr sz="4000" b="1" spc="-15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National </a:t>
            </a:r>
            <a:r>
              <a:rPr sz="4000" b="1" dirty="0">
                <a:latin typeface="Calibri"/>
                <a:cs typeface="Calibri"/>
              </a:rPr>
              <a:t>Organic</a:t>
            </a:r>
            <a:r>
              <a:rPr sz="4000" b="1" spc="-22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Agriculture</a:t>
            </a:r>
            <a:r>
              <a:rPr sz="4000" b="1" spc="-204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Board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000" b="1" spc="-25" dirty="0">
                <a:latin typeface="Calibri"/>
                <a:cs typeface="Calibri"/>
              </a:rPr>
              <a:t>-</a:t>
            </a:r>
            <a:r>
              <a:rPr sz="4000" b="1" dirty="0">
                <a:latin typeface="Calibri"/>
                <a:cs typeface="Calibri"/>
              </a:rPr>
              <a:t>PCARRD</a:t>
            </a:r>
            <a:r>
              <a:rPr sz="4000" b="1" spc="-15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Organic</a:t>
            </a:r>
            <a:r>
              <a:rPr sz="4000" b="1" spc="-17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Agriculture</a:t>
            </a:r>
            <a:r>
              <a:rPr sz="4000" b="1" spc="-114" dirty="0">
                <a:latin typeface="Calibri"/>
                <a:cs typeface="Calibri"/>
              </a:rPr>
              <a:t> </a:t>
            </a:r>
            <a:r>
              <a:rPr sz="4000" b="1" spc="-30" dirty="0">
                <a:latin typeface="Calibri"/>
                <a:cs typeface="Calibri"/>
              </a:rPr>
              <a:t>Training</a:t>
            </a:r>
            <a:r>
              <a:rPr sz="4000" b="1" spc="-13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Manual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DC326-0BB1-523C-DFC2-5A6BBA079EA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1630</Words>
  <Application>Microsoft Office PowerPoint</Application>
  <PresentationFormat>Widescreen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 MT</vt:lpstr>
      <vt:lpstr>Calibri</vt:lpstr>
      <vt:lpstr>Office Theme</vt:lpstr>
      <vt:lpstr>HISTORY, DEVELOPMENT, CONCERNS AND TRENDS OF ORGANIC AGRICULTURE</vt:lpstr>
      <vt:lpstr>History of Organic Agriculture</vt:lpstr>
      <vt:lpstr>Pioneers of Organic Agriculture</vt:lpstr>
      <vt:lpstr>Pioneers of Organic Agriculture</vt:lpstr>
      <vt:lpstr>Pioneers of Organic Agriculture</vt:lpstr>
      <vt:lpstr>Pioneers of Organic Agriculture</vt:lpstr>
      <vt:lpstr>Pioneers of Organic Agriculture</vt:lpstr>
      <vt:lpstr>Pioneers of Organic Agriculture</vt:lpstr>
      <vt:lpstr>Pioneers of Organic Agriculture</vt:lpstr>
      <vt:lpstr>DEVELOPMENTS OF ORGANIC AGRICULTURE</vt:lpstr>
      <vt:lpstr>PowerPoint Presentation</vt:lpstr>
      <vt:lpstr>PowerPoint Presentation</vt:lpstr>
      <vt:lpstr>World of Organic Agriculture</vt:lpstr>
      <vt:lpstr>Organic Agriculture: Philippines</vt:lpstr>
      <vt:lpstr>PowerPoint Presentation</vt:lpstr>
      <vt:lpstr>Organic Agriculture: Philippines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Marjorie Disor-Hoylar</cp:lastModifiedBy>
  <cp:revision>2</cp:revision>
  <dcterms:created xsi:type="dcterms:W3CDTF">2025-11-19T03:53:06Z</dcterms:created>
  <dcterms:modified xsi:type="dcterms:W3CDTF">2025-11-19T03:55:05Z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2025-11-19T00:00:00Z</vt:filetime>
  </property>
  <property fmtid="{D5CDD505-2E9C-101B-9397-08002B2CF9AE}" pid="5" name="Producer">
    <vt:lpwstr>Microsoft® PowerPoint® for Microsoft 365</vt:lpwstr>
  </property>
</Properties>
</file>