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41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308F3-D1E5-4DFE-8EB3-A14C4578E379}" type="datetimeFigureOut">
              <a:rPr lang="en-PH" smtClean="0"/>
              <a:t>19/11/2025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F916C-C5EC-40E3-B5AA-552E5B5A771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341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C79C9-4532-4B98-9D13-5C8C2268E09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DC987-DD7F-4406-9735-7AC13E1073FA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D7478-7F17-4211-84E4-4A350BFC763B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8F11A-5BD6-44BA-A305-19DD27E9258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18A99-D2B4-4C81-B7A6-4D50342153CE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190" y="132079"/>
            <a:ext cx="9434195" cy="1065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744" y="1585150"/>
            <a:ext cx="10684510" cy="382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1F22A-EA08-4C21-8EFE-0E3923545ECA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2684" y="500697"/>
            <a:ext cx="4789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H" sz="4400"/>
              <a:t>GREEN</a:t>
            </a:r>
            <a:r>
              <a:rPr lang="en-PH" sz="4400" spc="10"/>
              <a:t> </a:t>
            </a:r>
            <a:r>
              <a:rPr lang="en-PH" sz="4400" spc="-10"/>
              <a:t>REVOLUTION</a:t>
            </a:r>
            <a:endParaRPr lang="en-PH" sz="44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1691639"/>
            <a:ext cx="5214620" cy="34747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0859" y="1731522"/>
            <a:ext cx="4147001" cy="343483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44DEF-B0E6-0B2D-F45B-01F4AEABCC0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Green</a:t>
            </a:r>
            <a:r>
              <a:rPr spc="-114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190" y="1240154"/>
            <a:ext cx="7339965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985" indent="-4572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b="1" dirty="0">
                <a:latin typeface="Calibri"/>
                <a:cs typeface="Calibri"/>
              </a:rPr>
              <a:t>Food</a:t>
            </a:r>
            <a:r>
              <a:rPr sz="3000" b="1" spc="455" dirty="0">
                <a:latin typeface="Calibri"/>
                <a:cs typeface="Calibri"/>
              </a:rPr>
              <a:t>  </a:t>
            </a:r>
            <a:r>
              <a:rPr sz="3000" b="1" dirty="0">
                <a:latin typeface="Calibri"/>
                <a:cs typeface="Calibri"/>
              </a:rPr>
              <a:t>problems</a:t>
            </a:r>
            <a:r>
              <a:rPr sz="3000" b="1" spc="459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have</a:t>
            </a:r>
            <a:r>
              <a:rPr sz="3000" spc="4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haunted</a:t>
            </a:r>
            <a:r>
              <a:rPr sz="3000" spc="47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mankind </a:t>
            </a:r>
            <a:r>
              <a:rPr sz="3000" dirty="0">
                <a:latin typeface="Calibri"/>
                <a:cs typeface="Calibri"/>
              </a:rPr>
              <a:t>since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 </a:t>
            </a:r>
            <a:r>
              <a:rPr sz="3000" spc="-10" dirty="0">
                <a:latin typeface="Calibri"/>
                <a:cs typeface="Calibri"/>
              </a:rPr>
              <a:t>immemorial.</a:t>
            </a:r>
            <a:endParaRPr sz="3000">
              <a:latin typeface="Calibri"/>
              <a:cs typeface="Calibri"/>
            </a:endParaRPr>
          </a:p>
          <a:p>
            <a:pPr marL="469900" marR="5715" indent="-457200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By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19th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century,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there</a:t>
            </a:r>
            <a:r>
              <a:rPr sz="3000" spc="12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14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growing </a:t>
            </a:r>
            <a:r>
              <a:rPr sz="3000" dirty="0">
                <a:latin typeface="Calibri"/>
                <a:cs typeface="Calibri"/>
              </a:rPr>
              <a:t>pessimism</a:t>
            </a:r>
            <a:r>
              <a:rPr sz="3000" spc="5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about</a:t>
            </a:r>
            <a:r>
              <a:rPr sz="3000" spc="5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possibility</a:t>
            </a:r>
            <a:r>
              <a:rPr sz="3000" spc="509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5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feeding </a:t>
            </a:r>
            <a:r>
              <a:rPr sz="3000" spc="-20" dirty="0">
                <a:latin typeface="Calibri"/>
                <a:cs typeface="Calibri"/>
              </a:rPr>
              <a:t>ever-</a:t>
            </a:r>
            <a:r>
              <a:rPr sz="3000" dirty="0">
                <a:latin typeface="Calibri"/>
                <a:cs typeface="Calibri"/>
              </a:rPr>
              <a:t>growing</a:t>
            </a:r>
            <a:r>
              <a:rPr sz="3000" spc="1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populations,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1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exemplified</a:t>
            </a:r>
            <a:r>
              <a:rPr sz="3000" spc="1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writings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Thomas</a:t>
            </a:r>
            <a:r>
              <a:rPr sz="3000" spc="2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Malthus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(1766– 1834).</a:t>
            </a:r>
            <a:endParaRPr sz="3000">
              <a:latin typeface="Calibri"/>
              <a:cs typeface="Calibri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task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seemed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even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daunting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as </a:t>
            </a:r>
            <a:r>
              <a:rPr sz="3000" dirty="0">
                <a:latin typeface="Calibri"/>
                <a:cs typeface="Calibri"/>
              </a:rPr>
              <a:t>advances</a:t>
            </a:r>
            <a:r>
              <a:rPr sz="3000" spc="2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2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medicine</a:t>
            </a:r>
            <a:r>
              <a:rPr sz="3000" spc="2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2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public</a:t>
            </a:r>
            <a:r>
              <a:rPr sz="3000" spc="2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health</a:t>
            </a:r>
            <a:r>
              <a:rPr sz="3000" spc="2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led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6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longer</a:t>
            </a:r>
            <a:r>
              <a:rPr sz="3000" spc="6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life</a:t>
            </a:r>
            <a:r>
              <a:rPr sz="3000" spc="60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expectancies</a:t>
            </a:r>
            <a:r>
              <a:rPr sz="3000" spc="6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605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more </a:t>
            </a:r>
            <a:r>
              <a:rPr sz="3000" dirty="0">
                <a:latin typeface="Calibri"/>
                <a:cs typeface="Calibri"/>
              </a:rPr>
              <a:t>children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born.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7319" y="2110739"/>
            <a:ext cx="4254500" cy="298703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942D6-549C-937A-4244-8B32969638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258762"/>
            <a:ext cx="5882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Green</a:t>
            </a:r>
            <a:r>
              <a:rPr spc="-114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06725" y="1103629"/>
            <a:ext cx="8847455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By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mid-</a:t>
            </a:r>
            <a:r>
              <a:rPr sz="3000" dirty="0">
                <a:latin typeface="Calibri"/>
                <a:cs typeface="Calibri"/>
              </a:rPr>
              <a:t>1960s,</a:t>
            </a:r>
            <a:r>
              <a:rPr sz="3000" spc="17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hunger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malnutrition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were </a:t>
            </a:r>
            <a:r>
              <a:rPr sz="3000" dirty="0">
                <a:latin typeface="Calibri"/>
                <a:cs typeface="Calibri"/>
              </a:rPr>
              <a:t>widespread,</a:t>
            </a:r>
            <a:r>
              <a:rPr sz="3000" spc="2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especially</a:t>
            </a:r>
            <a:r>
              <a:rPr sz="3000" spc="2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2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Asia,</a:t>
            </a:r>
            <a:r>
              <a:rPr sz="3000" spc="229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229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increasingly </a:t>
            </a:r>
            <a:r>
              <a:rPr sz="3000" dirty="0">
                <a:latin typeface="Calibri"/>
                <a:cs typeface="Calibri"/>
              </a:rPr>
              <a:t>depended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food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aid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rich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countries.</a:t>
            </a:r>
            <a:endParaRPr sz="3000">
              <a:latin typeface="Calibri"/>
              <a:cs typeface="Calibri"/>
            </a:endParaRPr>
          </a:p>
          <a:p>
            <a:pPr marL="469900" marR="11430" indent="-457200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Calibri"/>
                <a:cs typeface="Calibri"/>
              </a:rPr>
              <a:t>Back-</a:t>
            </a:r>
            <a:r>
              <a:rPr sz="3000" spc="-20" dirty="0">
                <a:latin typeface="Calibri"/>
                <a:cs typeface="Calibri"/>
              </a:rPr>
              <a:t>to-</a:t>
            </a:r>
            <a:r>
              <a:rPr sz="3000" dirty="0">
                <a:latin typeface="Calibri"/>
                <a:cs typeface="Calibri"/>
              </a:rPr>
              <a:t>back</a:t>
            </a:r>
            <a:r>
              <a:rPr sz="3000" spc="3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droughts</a:t>
            </a:r>
            <a:r>
              <a:rPr sz="3000" spc="3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India</a:t>
            </a:r>
            <a:r>
              <a:rPr sz="3000" spc="3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during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mid-1960s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already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precarious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situation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worse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6725" y="3390645"/>
            <a:ext cx="7665084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5625" indent="-5429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55625" algn="l"/>
                <a:tab pos="1064260" algn="l"/>
                <a:tab pos="2123440" algn="l"/>
                <a:tab pos="3388360" algn="l"/>
                <a:tab pos="3993515" algn="l"/>
                <a:tab pos="4796155" algn="l"/>
                <a:tab pos="5685155" algn="l"/>
              </a:tabLst>
            </a:pPr>
            <a:r>
              <a:rPr sz="3000" spc="-50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1967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report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U.S.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President’s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2108200" algn="l"/>
                <a:tab pos="4133215" algn="l"/>
                <a:tab pos="6028055" algn="l"/>
                <a:tab pos="6957695" algn="l"/>
              </a:tabLst>
            </a:pPr>
            <a:r>
              <a:rPr sz="3000" spc="-10" dirty="0">
                <a:latin typeface="Calibri"/>
                <a:cs typeface="Calibri"/>
              </a:rPr>
              <a:t>Advisory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Committee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concluded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that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b="1" spc="-20" dirty="0">
                <a:latin typeface="Calibri"/>
                <a:cs typeface="Calibri"/>
              </a:rPr>
              <a:t>“the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3808" y="3390645"/>
            <a:ext cx="11880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Science</a:t>
            </a:r>
            <a:endParaRPr sz="3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0" b="1" spc="-10" dirty="0">
                <a:latin typeface="Calibri"/>
                <a:cs typeface="Calibri"/>
              </a:rPr>
              <a:t>scale,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3925" y="4305300"/>
            <a:ext cx="838708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severity</a:t>
            </a:r>
            <a:r>
              <a:rPr sz="3000" b="1" spc="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duration</a:t>
            </a:r>
            <a:r>
              <a:rPr sz="3000" b="1" spc="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world</a:t>
            </a:r>
            <a:r>
              <a:rPr sz="3000" b="1" spc="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food</a:t>
            </a:r>
            <a:r>
              <a:rPr sz="3000" b="1" spc="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problem</a:t>
            </a:r>
            <a:r>
              <a:rPr sz="3000" b="1" spc="20" dirty="0"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are </a:t>
            </a:r>
            <a:r>
              <a:rPr sz="3000" b="1" dirty="0">
                <a:latin typeface="Calibri"/>
                <a:cs typeface="Calibri"/>
              </a:rPr>
              <a:t>so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great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that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massive,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long-</a:t>
            </a:r>
            <a:r>
              <a:rPr sz="3000" b="1" dirty="0">
                <a:latin typeface="Calibri"/>
                <a:cs typeface="Calibri"/>
              </a:rPr>
              <a:t>range,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innovative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effort </a:t>
            </a:r>
            <a:r>
              <a:rPr sz="3000" b="1" dirty="0">
                <a:latin typeface="Calibri"/>
                <a:cs typeface="Calibri"/>
              </a:rPr>
              <a:t>unprecedented</a:t>
            </a:r>
            <a:r>
              <a:rPr sz="3000" b="1" spc="10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</a:t>
            </a:r>
            <a:r>
              <a:rPr sz="3000" b="1" spc="1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human</a:t>
            </a:r>
            <a:r>
              <a:rPr sz="3000" b="1" spc="114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history</a:t>
            </a:r>
            <a:r>
              <a:rPr sz="3000" b="1" spc="1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will</a:t>
            </a:r>
            <a:r>
              <a:rPr sz="3000" b="1" spc="1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be</a:t>
            </a:r>
            <a:r>
              <a:rPr sz="3000" b="1" spc="1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required</a:t>
            </a:r>
            <a:r>
              <a:rPr sz="3000" b="1" spc="110" dirty="0"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to </a:t>
            </a:r>
            <a:r>
              <a:rPr sz="3000" b="1" dirty="0">
                <a:latin typeface="Calibri"/>
                <a:cs typeface="Calibri"/>
              </a:rPr>
              <a:t>master</a:t>
            </a:r>
            <a:r>
              <a:rPr sz="3000" b="1" spc="-114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it.”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20" y="1183639"/>
            <a:ext cx="2755900" cy="22453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159" y="3769359"/>
            <a:ext cx="2781300" cy="19939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C2D4520-74CF-2A0D-4896-ECB2EAEBE32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258762"/>
            <a:ext cx="5882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Green</a:t>
            </a:r>
            <a:r>
              <a:rPr spc="-114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190" y="974978"/>
            <a:ext cx="8517255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Rockefeller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Ford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foundations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took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lead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establishing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international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agricultural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research </a:t>
            </a:r>
            <a:r>
              <a:rPr sz="3000" dirty="0">
                <a:latin typeface="Calibri"/>
                <a:cs typeface="Calibri"/>
              </a:rPr>
              <a:t>system</a:t>
            </a:r>
            <a:r>
              <a:rPr sz="3000" spc="5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5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help</a:t>
            </a:r>
            <a:r>
              <a:rPr sz="3000" spc="5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transfer</a:t>
            </a:r>
            <a:r>
              <a:rPr sz="3000" spc="5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adapt</a:t>
            </a:r>
            <a:r>
              <a:rPr sz="3000" spc="53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scientific </a:t>
            </a:r>
            <a:r>
              <a:rPr sz="3000" dirty="0">
                <a:latin typeface="Calibri"/>
                <a:cs typeface="Calibri"/>
              </a:rPr>
              <a:t>advances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conditions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developing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countries.</a:t>
            </a:r>
            <a:endParaRPr sz="3000">
              <a:latin typeface="Calibri"/>
              <a:cs typeface="Calibri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2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first</a:t>
            </a:r>
            <a:r>
              <a:rPr sz="3000" spc="2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investments</a:t>
            </a:r>
            <a:r>
              <a:rPr sz="3000" spc="229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were</a:t>
            </a:r>
            <a:r>
              <a:rPr sz="3000" spc="229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2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research</a:t>
            </a:r>
            <a:r>
              <a:rPr sz="3000" spc="2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2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rice</a:t>
            </a:r>
            <a:r>
              <a:rPr sz="3000" b="1" spc="235" dirty="0"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and </a:t>
            </a:r>
            <a:r>
              <a:rPr sz="3000" b="1" dirty="0">
                <a:latin typeface="Calibri"/>
                <a:cs typeface="Calibri"/>
              </a:rPr>
              <a:t>wheat,</a:t>
            </a:r>
            <a:r>
              <a:rPr sz="3000" b="1" spc="3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two</a:t>
            </a:r>
            <a:r>
              <a:rPr sz="3000" spc="3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4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4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most</a:t>
            </a:r>
            <a:r>
              <a:rPr sz="3000" spc="3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important</a:t>
            </a:r>
            <a:r>
              <a:rPr sz="3000" spc="3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food</a:t>
            </a:r>
            <a:r>
              <a:rPr sz="3000" spc="4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crops</a:t>
            </a:r>
            <a:r>
              <a:rPr sz="3000" spc="4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developing</a:t>
            </a:r>
            <a:r>
              <a:rPr sz="3000" spc="11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countries.</a:t>
            </a:r>
            <a:r>
              <a:rPr sz="3000" spc="1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1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breeding</a:t>
            </a:r>
            <a:r>
              <a:rPr sz="3000" spc="12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11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improved </a:t>
            </a:r>
            <a:r>
              <a:rPr sz="3000" dirty="0">
                <a:latin typeface="Calibri"/>
                <a:cs typeface="Calibri"/>
              </a:rPr>
              <a:t>varieties,</a:t>
            </a:r>
            <a:r>
              <a:rPr sz="3000" spc="2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combined</a:t>
            </a:r>
            <a:r>
              <a:rPr sz="3000" spc="3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29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expanded</a:t>
            </a:r>
            <a:r>
              <a:rPr sz="3000" spc="29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280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fertilizers,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other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chemical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inputs,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irrigation,</a:t>
            </a:r>
            <a:r>
              <a:rPr sz="3000" spc="9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led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3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dramatic</a:t>
            </a:r>
            <a:r>
              <a:rPr sz="3000" spc="3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yield</a:t>
            </a:r>
            <a:r>
              <a:rPr sz="3000" spc="3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increases</a:t>
            </a:r>
            <a:r>
              <a:rPr sz="3000" spc="3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3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Asia</a:t>
            </a:r>
            <a:r>
              <a:rPr sz="3000" spc="3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36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Latin </a:t>
            </a:r>
            <a:r>
              <a:rPr sz="3000" dirty="0">
                <a:latin typeface="Calibri"/>
                <a:cs typeface="Calibri"/>
              </a:rPr>
              <a:t>America,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beginning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late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1960s.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1901" y="1193357"/>
            <a:ext cx="2867644" cy="1255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8880" y="2766060"/>
            <a:ext cx="3373120" cy="8509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C61E95-BD6E-EC38-8009-FA2C3C941CD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1811909"/>
            <a:ext cx="60217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1531620" algn="l"/>
                <a:tab pos="3108960" algn="l"/>
                <a:tab pos="4008754" algn="l"/>
              </a:tabLst>
            </a:pPr>
            <a:r>
              <a:rPr sz="3000" spc="-20" dirty="0">
                <a:latin typeface="Calibri"/>
                <a:cs typeface="Calibri"/>
              </a:rPr>
              <a:t>U.S.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Agency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International</a:t>
            </a:r>
            <a:endParaRPr sz="3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1139" y="2376820"/>
          <a:ext cx="6063613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2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488950">
                        <a:lnSpc>
                          <a:spcPts val="2850"/>
                        </a:lnSpc>
                      </a:pPr>
                      <a:r>
                        <a:rPr sz="30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2850"/>
                        </a:lnSpc>
                      </a:pPr>
                      <a:r>
                        <a:rPr sz="3000" spc="-10" dirty="0">
                          <a:latin typeface="Calibri"/>
                          <a:cs typeface="Calibri"/>
                        </a:rPr>
                        <a:t>(USAID)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488950">
                        <a:lnSpc>
                          <a:spcPts val="3150"/>
                        </a:lnSpc>
                      </a:pPr>
                      <a:r>
                        <a:rPr sz="3000" spc="-10" dirty="0">
                          <a:latin typeface="Calibri"/>
                          <a:cs typeface="Calibri"/>
                        </a:rPr>
                        <a:t>Administrator</a:t>
                      </a:r>
                      <a:endParaRPr sz="3000">
                        <a:latin typeface="Calibri"/>
                        <a:cs typeface="Calibri"/>
                      </a:endParaRPr>
                    </a:p>
                    <a:p>
                      <a:pPr marL="488315" indent="-45656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88315" algn="l"/>
                          <a:tab pos="2231390" algn="l"/>
                        </a:tabLst>
                      </a:pPr>
                      <a:r>
                        <a:rPr sz="3000" spc="-10" dirty="0">
                          <a:latin typeface="Calibri"/>
                          <a:cs typeface="Calibri"/>
                        </a:rPr>
                        <a:t>coined</a:t>
                      </a:r>
                      <a:r>
                        <a:rPr sz="3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000" spc="-25" dirty="0">
                          <a:latin typeface="Calibri"/>
                          <a:cs typeface="Calibri"/>
                        </a:rPr>
                        <a:t>the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3150"/>
                        </a:spcBef>
                        <a:tabLst>
                          <a:tab pos="1455420" algn="l"/>
                        </a:tabLst>
                      </a:pPr>
                      <a:r>
                        <a:rPr sz="3000" spc="-2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3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000" b="1" spc="-10" dirty="0">
                          <a:latin typeface="Calibri"/>
                          <a:cs typeface="Calibri"/>
                        </a:rPr>
                        <a:t>“Green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4000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488950">
                        <a:lnSpc>
                          <a:spcPts val="3150"/>
                        </a:lnSpc>
                      </a:pPr>
                      <a:r>
                        <a:rPr sz="3000" b="1" spc="-10" dirty="0">
                          <a:latin typeface="Calibri"/>
                          <a:cs typeface="Calibri"/>
                        </a:rPr>
                        <a:t>Revolution”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3150"/>
                        </a:lnSpc>
                      </a:pPr>
                      <a:r>
                        <a:rPr sz="3000" spc="-25" dirty="0">
                          <a:latin typeface="Calibri"/>
                          <a:cs typeface="Calibri"/>
                        </a:rPr>
                        <a:t>to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150"/>
                        </a:lnSpc>
                        <a:tabLst>
                          <a:tab pos="1811020" algn="l"/>
                        </a:tabLst>
                      </a:pPr>
                      <a:r>
                        <a:rPr sz="3000" spc="-10" dirty="0">
                          <a:latin typeface="Calibri"/>
                          <a:cs typeface="Calibri"/>
                        </a:rPr>
                        <a:t>describe</a:t>
                      </a:r>
                      <a:r>
                        <a:rPr sz="3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000" spc="-25" dirty="0">
                          <a:latin typeface="Calibri"/>
                          <a:cs typeface="Calibri"/>
                        </a:rPr>
                        <a:t>the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7390" y="4098226"/>
            <a:ext cx="55676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141220" algn="l"/>
                <a:tab pos="3419475" algn="l"/>
                <a:tab pos="3879215" algn="l"/>
              </a:tabLst>
            </a:pPr>
            <a:r>
              <a:rPr sz="3000" spc="-10" dirty="0">
                <a:latin typeface="Calibri"/>
                <a:cs typeface="Calibri"/>
              </a:rPr>
              <a:t>phenomenal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growth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agriculture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1968.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H"/>
              <a:t>William</a:t>
            </a:r>
            <a:r>
              <a:rPr lang="en-PH" spc="-75"/>
              <a:t> </a:t>
            </a:r>
            <a:r>
              <a:rPr lang="en-PH"/>
              <a:t>S.</a:t>
            </a:r>
            <a:r>
              <a:rPr lang="en-PH" spc="-85"/>
              <a:t> </a:t>
            </a:r>
            <a:r>
              <a:rPr lang="en-PH" spc="-20"/>
              <a:t>Gaud</a:t>
            </a:r>
            <a:endParaRPr lang="en-PH" spc="-2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2319" y="1592580"/>
            <a:ext cx="3053079" cy="367284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178B7D-3F47-02ED-C794-39E38C52709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65" y="1238313"/>
            <a:ext cx="1131824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5080" indent="-45593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Although</a:t>
            </a:r>
            <a:r>
              <a:rPr sz="3200" spc="57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term</a:t>
            </a:r>
            <a:r>
              <a:rPr sz="3200" spc="5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Green</a:t>
            </a:r>
            <a:r>
              <a:rPr sz="3200" spc="5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Revolution</a:t>
            </a:r>
            <a:r>
              <a:rPr sz="3200" spc="5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originally</a:t>
            </a:r>
            <a:r>
              <a:rPr sz="3200" spc="57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described 	</a:t>
            </a:r>
            <a:r>
              <a:rPr sz="3200" dirty="0">
                <a:latin typeface="Calibri"/>
                <a:cs typeface="Calibri"/>
              </a:rPr>
              <a:t>developments</a:t>
            </a:r>
            <a:r>
              <a:rPr sz="3200" spc="3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3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rice</a:t>
            </a:r>
            <a:r>
              <a:rPr sz="3200" spc="3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wheat,</a:t>
            </a:r>
            <a:r>
              <a:rPr sz="3200" spc="3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high-</a:t>
            </a:r>
            <a:r>
              <a:rPr sz="3200" dirty="0">
                <a:latin typeface="Calibri"/>
                <a:cs typeface="Calibri"/>
              </a:rPr>
              <a:t>yielding</a:t>
            </a:r>
            <a:r>
              <a:rPr sz="3200" spc="3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varieties</a:t>
            </a:r>
            <a:r>
              <a:rPr sz="3200" spc="3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(HYVs) 	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since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been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developed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major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food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crops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important 	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3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developing</a:t>
            </a:r>
            <a:r>
              <a:rPr sz="3200" spc="4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countries,</a:t>
            </a:r>
            <a:r>
              <a:rPr sz="3200" spc="4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including</a:t>
            </a:r>
            <a:r>
              <a:rPr sz="3200" spc="4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sorghum,</a:t>
            </a:r>
            <a:r>
              <a:rPr sz="3200" spc="43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millet,</a:t>
            </a:r>
            <a:r>
              <a:rPr sz="3200" spc="4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maize, 	cassava,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beans.</a:t>
            </a:r>
            <a:endParaRPr sz="3200">
              <a:latin typeface="Calibri"/>
              <a:cs typeface="Calibri"/>
            </a:endParaRPr>
          </a:p>
          <a:p>
            <a:pPr marL="468630" marR="6350" indent="-456565" algn="just">
              <a:lnSpc>
                <a:spcPct val="100000"/>
              </a:lnSpc>
              <a:spcBef>
                <a:spcPts val="385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Moreover,</a:t>
            </a:r>
            <a:r>
              <a:rPr sz="3200" spc="21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22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full-</a:t>
            </a:r>
            <a:r>
              <a:rPr sz="3200" dirty="0">
                <a:latin typeface="Calibri"/>
                <a:cs typeface="Calibri"/>
              </a:rPr>
              <a:t>fledged</a:t>
            </a:r>
            <a:r>
              <a:rPr sz="3200" spc="21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2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21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international</a:t>
            </a:r>
            <a:r>
              <a:rPr sz="3200" spc="22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agricultural 	</a:t>
            </a:r>
            <a:r>
              <a:rPr sz="3200" dirty="0">
                <a:latin typeface="Calibri"/>
                <a:cs typeface="Calibri"/>
              </a:rPr>
              <a:t>research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centers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now</a:t>
            </a:r>
            <a:r>
              <a:rPr sz="3200" spc="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works</a:t>
            </a:r>
            <a:r>
              <a:rPr sz="3200" spc="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many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aspects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developing- 	</a:t>
            </a:r>
            <a:r>
              <a:rPr sz="3200" dirty="0">
                <a:latin typeface="Calibri"/>
                <a:cs typeface="Calibri"/>
              </a:rPr>
              <a:t>country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agriculture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A96BA-0761-4496-F94D-2544C427F8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132079"/>
            <a:ext cx="58813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11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Green</a:t>
            </a:r>
            <a:r>
              <a:rPr spc="-120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190" y="873378"/>
            <a:ext cx="7914640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Borrowing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rice-</a:t>
            </a:r>
            <a:r>
              <a:rPr sz="3000" dirty="0">
                <a:latin typeface="Calibri"/>
                <a:cs typeface="Calibri"/>
              </a:rPr>
              <a:t>breeding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work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undertaken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3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China,</a:t>
            </a:r>
            <a:r>
              <a:rPr sz="3000" spc="3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Japan,</a:t>
            </a:r>
            <a:r>
              <a:rPr sz="3000" spc="3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3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Taiwan,</a:t>
            </a:r>
            <a:r>
              <a:rPr sz="3000" spc="3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3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International </a:t>
            </a:r>
            <a:r>
              <a:rPr sz="3000" b="1" dirty="0">
                <a:latin typeface="Calibri"/>
                <a:cs typeface="Calibri"/>
              </a:rPr>
              <a:t>Rice Research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Institute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(IRRI)</a:t>
            </a:r>
            <a:r>
              <a:rPr sz="3000" b="1" spc="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Philippines </a:t>
            </a:r>
            <a:r>
              <a:rPr sz="3000" dirty="0">
                <a:latin typeface="Calibri"/>
                <a:cs typeface="Calibri"/>
              </a:rPr>
              <a:t>developed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semi-</a:t>
            </a:r>
            <a:r>
              <a:rPr sz="3000" dirty="0">
                <a:latin typeface="Calibri"/>
                <a:cs typeface="Calibri"/>
              </a:rPr>
              <a:t>dwarf</a:t>
            </a:r>
            <a:r>
              <a:rPr sz="3000" spc="3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varieties</a:t>
            </a:r>
            <a:r>
              <a:rPr sz="3000" spc="3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3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met</a:t>
            </a:r>
            <a:r>
              <a:rPr sz="3000" spc="3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most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these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requirements.</a:t>
            </a:r>
            <a:endParaRPr sz="3000">
              <a:latin typeface="Calibri"/>
              <a:cs typeface="Calibri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Similar</a:t>
            </a:r>
            <a:r>
              <a:rPr sz="3000" spc="19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achievements</a:t>
            </a:r>
            <a:r>
              <a:rPr sz="3000" spc="2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were</a:t>
            </a:r>
            <a:r>
              <a:rPr sz="3000" spc="20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19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19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wheat </a:t>
            </a:r>
            <a:r>
              <a:rPr sz="3000" dirty="0">
                <a:latin typeface="Calibri"/>
                <a:cs typeface="Calibri"/>
              </a:rPr>
              <a:t>after</a:t>
            </a:r>
            <a:r>
              <a:rPr sz="3000" spc="4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Norman</a:t>
            </a:r>
            <a:r>
              <a:rPr sz="3000" spc="48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Borlaug</a:t>
            </a:r>
            <a:r>
              <a:rPr sz="3000" spc="4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crossed</a:t>
            </a:r>
            <a:r>
              <a:rPr sz="3000" spc="4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Japanese</a:t>
            </a:r>
            <a:r>
              <a:rPr sz="3000" spc="4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semi- </a:t>
            </a:r>
            <a:r>
              <a:rPr sz="3000" dirty="0">
                <a:latin typeface="Calibri"/>
                <a:cs typeface="Calibri"/>
              </a:rPr>
              <a:t>dwarf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varieties</a:t>
            </a:r>
            <a:r>
              <a:rPr sz="3000" spc="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Mexican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wheats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what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now</a:t>
            </a:r>
            <a:r>
              <a:rPr sz="3000" spc="12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1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1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30" dirty="0">
                <a:latin typeface="Calibri"/>
                <a:cs typeface="Calibri"/>
              </a:rPr>
              <a:t>  </a:t>
            </a:r>
            <a:r>
              <a:rPr sz="3000" b="1" dirty="0">
                <a:latin typeface="Calibri"/>
                <a:cs typeface="Calibri"/>
              </a:rPr>
              <a:t>International</a:t>
            </a:r>
            <a:r>
              <a:rPr sz="3000" b="1" spc="135" dirty="0">
                <a:latin typeface="Calibri"/>
                <a:cs typeface="Calibri"/>
              </a:rPr>
              <a:t>  </a:t>
            </a:r>
            <a:r>
              <a:rPr sz="3000" b="1" dirty="0">
                <a:latin typeface="Calibri"/>
                <a:cs typeface="Calibri"/>
              </a:rPr>
              <a:t>Center</a:t>
            </a:r>
            <a:r>
              <a:rPr sz="3000" b="1" spc="130" dirty="0">
                <a:latin typeface="Calibri"/>
                <a:cs typeface="Calibri"/>
              </a:rPr>
              <a:t>  </a:t>
            </a:r>
            <a:r>
              <a:rPr sz="3000" b="1" spc="-25" dirty="0">
                <a:latin typeface="Calibri"/>
                <a:cs typeface="Calibri"/>
              </a:rPr>
              <a:t>for </a:t>
            </a:r>
            <a:r>
              <a:rPr sz="3000" b="1" dirty="0">
                <a:latin typeface="Calibri"/>
                <a:cs typeface="Calibri"/>
              </a:rPr>
              <a:t>Maize</a:t>
            </a:r>
            <a:r>
              <a:rPr sz="3000" b="1" spc="4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4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Wheat</a:t>
            </a:r>
            <a:r>
              <a:rPr sz="3000" b="1" spc="409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Improvement</a:t>
            </a:r>
            <a:r>
              <a:rPr sz="3000" b="1" spc="39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(CIMMYT)</a:t>
            </a:r>
            <a:r>
              <a:rPr sz="3000" b="1" spc="425" dirty="0"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in </a:t>
            </a:r>
            <a:r>
              <a:rPr sz="3000" b="1" spc="-10" dirty="0">
                <a:latin typeface="Calibri"/>
                <a:cs typeface="Calibri"/>
              </a:rPr>
              <a:t>Mexico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9940" y="840739"/>
            <a:ext cx="3601720" cy="2397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9959" y="3505200"/>
            <a:ext cx="3284220" cy="218694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8D3623-7F6A-46C9-C397-3AC3B5CFC5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79409" algn="l"/>
                <a:tab pos="8590915" algn="l"/>
              </a:tabLst>
            </a:pPr>
            <a:r>
              <a:rPr dirty="0"/>
              <a:t>Norman</a:t>
            </a:r>
            <a:r>
              <a:rPr spc="-135" dirty="0"/>
              <a:t> </a:t>
            </a:r>
            <a:r>
              <a:rPr dirty="0"/>
              <a:t>Borlaug</a:t>
            </a:r>
            <a:r>
              <a:rPr spc="-75" dirty="0"/>
              <a:t> </a:t>
            </a:r>
            <a:r>
              <a:rPr sz="2800" b="0" dirty="0">
                <a:latin typeface="Calibri"/>
                <a:cs typeface="Calibri"/>
              </a:rPr>
              <a:t>(March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25,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1914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–September</a:t>
            </a:r>
            <a:r>
              <a:rPr sz="2800" b="0" dirty="0">
                <a:latin typeface="Calibri"/>
                <a:cs typeface="Calibri"/>
              </a:rPr>
              <a:t>	</a:t>
            </a:r>
            <a:r>
              <a:rPr sz="2800" b="0" spc="-25" dirty="0">
                <a:latin typeface="Calibri"/>
                <a:cs typeface="Calibri"/>
              </a:rPr>
              <a:t>12,</a:t>
            </a:r>
            <a:r>
              <a:rPr sz="2800" b="0" dirty="0">
                <a:latin typeface="Calibri"/>
                <a:cs typeface="Calibri"/>
              </a:rPr>
              <a:t>	</a:t>
            </a:r>
            <a:r>
              <a:rPr sz="2800" b="0" spc="-10" dirty="0">
                <a:latin typeface="Calibri"/>
                <a:cs typeface="Calibri"/>
              </a:rPr>
              <a:t>2009)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50" y="1915795"/>
            <a:ext cx="31991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American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scientist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3330" y="2385377"/>
            <a:ext cx="55264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0380" algn="l"/>
                <a:tab pos="4008754" algn="l"/>
                <a:tab pos="522795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2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Congressional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Gold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Medal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450" y="2385377"/>
            <a:ext cx="7367905" cy="135953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5600" marR="5742940" indent="-342900">
              <a:lnSpc>
                <a:spcPts val="3200"/>
              </a:lnSpc>
              <a:spcBef>
                <a:spcPts val="54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20" dirty="0">
                <a:latin typeface="Calibri"/>
                <a:cs typeface="Calibri"/>
              </a:rPr>
              <a:t>receives </a:t>
            </a:r>
            <a:r>
              <a:rPr sz="3000" spc="-10" dirty="0">
                <a:latin typeface="Calibri"/>
                <a:cs typeface="Calibri"/>
              </a:rPr>
              <a:t>2007.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354965" algn="l"/>
                <a:tab pos="6292215" algn="l"/>
                <a:tab pos="691769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1970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Nobel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Laureate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honored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his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450" y="3669029"/>
            <a:ext cx="7366634" cy="18192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algn="just">
              <a:lnSpc>
                <a:spcPct val="89200"/>
              </a:lnSpc>
              <a:spcBef>
                <a:spcPts val="484"/>
              </a:spcBef>
            </a:pPr>
            <a:r>
              <a:rPr sz="3000" dirty="0">
                <a:latin typeface="Calibri"/>
                <a:cs typeface="Calibri"/>
              </a:rPr>
              <a:t>work</a:t>
            </a:r>
            <a:r>
              <a:rPr sz="3000" spc="32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335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33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'Green</a:t>
            </a:r>
            <a:r>
              <a:rPr sz="3000" spc="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Revolution,'</a:t>
            </a:r>
            <a:r>
              <a:rPr sz="3000" spc="7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saving </a:t>
            </a:r>
            <a:r>
              <a:rPr sz="3000" dirty="0">
                <a:latin typeface="Calibri"/>
                <a:cs typeface="Calibri"/>
              </a:rPr>
              <a:t>millions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lives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famine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India,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Mexico,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Middle </a:t>
            </a:r>
            <a:r>
              <a:rPr sz="3000" spc="-20" dirty="0">
                <a:latin typeface="Calibri"/>
                <a:cs typeface="Calibri"/>
              </a:rPr>
              <a:t>East.</a:t>
            </a:r>
            <a:endParaRPr sz="3000">
              <a:latin typeface="Calibri"/>
              <a:cs typeface="Calibri"/>
            </a:endParaRPr>
          </a:p>
          <a:p>
            <a:pPr marL="356235" indent="-343535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"</a:t>
            </a:r>
            <a:r>
              <a:rPr sz="3000" b="1" i="1" dirty="0">
                <a:latin typeface="Calibri"/>
                <a:cs typeface="Calibri"/>
              </a:rPr>
              <a:t>the</a:t>
            </a:r>
            <a:r>
              <a:rPr sz="3000" b="1" i="1" spc="-6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father</a:t>
            </a:r>
            <a:r>
              <a:rPr sz="3000" b="1" i="1" spc="-5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of</a:t>
            </a:r>
            <a:r>
              <a:rPr sz="3000" b="1" i="1" spc="-7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the</a:t>
            </a:r>
            <a:r>
              <a:rPr sz="3000" b="1" i="1" spc="-5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Green</a:t>
            </a:r>
            <a:r>
              <a:rPr sz="3000" b="1" i="1" spc="-65" dirty="0">
                <a:latin typeface="Calibri"/>
                <a:cs typeface="Calibri"/>
              </a:rPr>
              <a:t> </a:t>
            </a:r>
            <a:r>
              <a:rPr sz="3000" b="1" i="1" spc="-10" dirty="0">
                <a:latin typeface="Calibri"/>
                <a:cs typeface="Calibri"/>
              </a:rPr>
              <a:t>Revolution</a:t>
            </a:r>
            <a:r>
              <a:rPr sz="3000" spc="-10" dirty="0">
                <a:latin typeface="Calibri"/>
                <a:cs typeface="Calibri"/>
              </a:rPr>
              <a:t>".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1559" y="1750060"/>
            <a:ext cx="3048000" cy="39751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2576C-4CD5-901F-8711-2019A89DF4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4685" y="1090549"/>
            <a:ext cx="6184900" cy="472948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0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spc="-25" dirty="0">
                <a:latin typeface="Calibri"/>
                <a:cs typeface="Calibri"/>
              </a:rPr>
              <a:t>Double/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Multiple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Cropping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endParaRPr sz="3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905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spc="-10" dirty="0">
                <a:latin typeface="Calibri"/>
                <a:cs typeface="Calibri"/>
              </a:rPr>
              <a:t>Seeds</a:t>
            </a:r>
            <a:r>
              <a:rPr sz="3200" spc="-1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superior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genetics</a:t>
            </a:r>
            <a:endParaRPr sz="3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900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spc="-10" dirty="0">
                <a:latin typeface="Calibri"/>
                <a:cs typeface="Calibri"/>
              </a:rPr>
              <a:t>Proper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irrigation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endParaRPr sz="3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900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spc="-20" dirty="0">
                <a:latin typeface="Calibri"/>
                <a:cs typeface="Calibri"/>
              </a:rPr>
              <a:t>High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Yielding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Variety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(HYV)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seeds</a:t>
            </a:r>
            <a:endParaRPr sz="3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905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pesticides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fertilizers</a:t>
            </a:r>
            <a:endParaRPr sz="3200">
              <a:latin typeface="Calibri"/>
              <a:cs typeface="Calibri"/>
            </a:endParaRPr>
          </a:p>
          <a:p>
            <a:pPr marL="377825" marR="99695" indent="-365760">
              <a:lnSpc>
                <a:spcPct val="100000"/>
              </a:lnSpc>
              <a:spcBef>
                <a:spcPts val="900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modern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machinery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(Tractor, </a:t>
            </a:r>
            <a:r>
              <a:rPr sz="3200" spc="-30" dirty="0">
                <a:latin typeface="Calibri"/>
                <a:cs typeface="Calibri"/>
              </a:rPr>
              <a:t>Harvester,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Thrasher)</a:t>
            </a:r>
            <a:endParaRPr sz="3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905"/>
              </a:spcBef>
              <a:buSzPct val="96875"/>
              <a:buFont typeface="Wingdings"/>
              <a:buChar char=""/>
              <a:tabLst>
                <a:tab pos="377825" algn="l"/>
              </a:tabLst>
            </a:pPr>
            <a:r>
              <a:rPr sz="3200" spc="-30" dirty="0">
                <a:latin typeface="Calibri"/>
                <a:cs typeface="Calibri"/>
              </a:rPr>
              <a:t>Expansion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farming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areas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1827" y="195262"/>
            <a:ext cx="79451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imes New Roman"/>
                <a:cs typeface="Times New Roman"/>
              </a:rPr>
              <a:t>Methods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used</a:t>
            </a:r>
            <a:r>
              <a:rPr sz="4400" spc="-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in</a:t>
            </a:r>
            <a:r>
              <a:rPr sz="4400" spc="-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green</a:t>
            </a:r>
            <a:r>
              <a:rPr sz="4400" spc="-85" dirty="0">
                <a:latin typeface="Times New Roman"/>
                <a:cs typeface="Times New Roman"/>
              </a:rPr>
              <a:t> </a:t>
            </a:r>
            <a:r>
              <a:rPr sz="4400" spc="-20" dirty="0">
                <a:latin typeface="Times New Roman"/>
                <a:cs typeface="Times New Roman"/>
              </a:rPr>
              <a:t>revolution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58E15-E23B-8F17-A911-5DABD17515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441" y="158115"/>
            <a:ext cx="55822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Causes</a:t>
            </a:r>
            <a:r>
              <a:rPr spc="-15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green</a:t>
            </a:r>
            <a:r>
              <a:rPr spc="-155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6485" y="1072239"/>
            <a:ext cx="5581015" cy="51073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High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Yielding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Varieties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Seed.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Chemical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Fertilizers.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Irrigation.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Multiple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Cropping.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Modern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Agricultural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Machinery.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Credit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Facilities.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Agricultural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Research.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Plant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Protection.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Rural</a:t>
            </a:r>
            <a:r>
              <a:rPr sz="3000" spc="-1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Electrification.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Soil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Testing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Soil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Conservation.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DBDC-91A2-54F0-6EE0-F858775713D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56515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Basic</a:t>
            </a:r>
            <a:r>
              <a:rPr sz="3200" spc="-85" dirty="0"/>
              <a:t> </a:t>
            </a:r>
            <a:r>
              <a:rPr sz="3200" dirty="0"/>
              <a:t>elements</a:t>
            </a:r>
            <a:r>
              <a:rPr sz="3200" spc="-75" dirty="0"/>
              <a:t> </a:t>
            </a:r>
            <a:r>
              <a:rPr sz="3200" dirty="0"/>
              <a:t>used</a:t>
            </a:r>
            <a:r>
              <a:rPr sz="3200" spc="-85" dirty="0"/>
              <a:t> </a:t>
            </a:r>
            <a:r>
              <a:rPr sz="3200" dirty="0"/>
              <a:t>methods</a:t>
            </a:r>
            <a:r>
              <a:rPr sz="3200" spc="-80" dirty="0"/>
              <a:t> </a:t>
            </a:r>
            <a:r>
              <a:rPr sz="3200" dirty="0"/>
              <a:t>of</a:t>
            </a:r>
            <a:r>
              <a:rPr sz="3200" spc="-45" dirty="0"/>
              <a:t> </a:t>
            </a:r>
            <a:r>
              <a:rPr sz="3200" dirty="0"/>
              <a:t>green</a:t>
            </a:r>
            <a:r>
              <a:rPr sz="3200" spc="-100" dirty="0"/>
              <a:t> </a:t>
            </a:r>
            <a:r>
              <a:rPr sz="3200" spc="-10" dirty="0"/>
              <a:t>revolution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19467" y="1208659"/>
            <a:ext cx="9909810" cy="43630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8890" indent="-342900" algn="just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i="1" dirty="0">
                <a:latin typeface="Calibri"/>
                <a:cs typeface="Calibri"/>
              </a:rPr>
              <a:t>Continued</a:t>
            </a:r>
            <a:r>
              <a:rPr sz="3000" b="1" i="1" spc="95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expansion</a:t>
            </a:r>
            <a:r>
              <a:rPr sz="3000" b="1" i="1" spc="105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of</a:t>
            </a:r>
            <a:r>
              <a:rPr sz="3000" b="1" i="1" spc="100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farming</a:t>
            </a:r>
            <a:r>
              <a:rPr sz="3000" b="1" i="1" spc="100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areas:</a:t>
            </a:r>
            <a:r>
              <a:rPr sz="3000" b="1" i="1" spc="9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Green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Revolution </a:t>
            </a:r>
            <a:r>
              <a:rPr sz="3000" dirty="0">
                <a:latin typeface="Calibri"/>
                <a:cs typeface="Calibri"/>
              </a:rPr>
              <a:t>continued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quantitative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expansion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farmlands.</a:t>
            </a:r>
            <a:endParaRPr sz="300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900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i="1" spc="-20" dirty="0">
                <a:latin typeface="Calibri"/>
                <a:cs typeface="Calibri"/>
              </a:rPr>
              <a:t>Double-</a:t>
            </a:r>
            <a:r>
              <a:rPr sz="3000" b="1" i="1" dirty="0">
                <a:latin typeface="Calibri"/>
                <a:cs typeface="Calibri"/>
              </a:rPr>
              <a:t>cropping</a:t>
            </a:r>
            <a:r>
              <a:rPr sz="3000" b="1" i="1" spc="370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existing</a:t>
            </a:r>
            <a:r>
              <a:rPr sz="3000" b="1" i="1" spc="365" dirty="0">
                <a:latin typeface="Calibri"/>
                <a:cs typeface="Calibri"/>
              </a:rPr>
              <a:t>  </a:t>
            </a:r>
            <a:r>
              <a:rPr sz="3000" b="1" i="1" dirty="0">
                <a:latin typeface="Calibri"/>
                <a:cs typeface="Calibri"/>
              </a:rPr>
              <a:t>farmland:</a:t>
            </a:r>
            <a:r>
              <a:rPr sz="3000" b="1" i="1" spc="3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Instead</a:t>
            </a:r>
            <a:r>
              <a:rPr sz="3000" spc="3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crop </a:t>
            </a:r>
            <a:r>
              <a:rPr sz="3000" dirty="0">
                <a:latin typeface="Calibri"/>
                <a:cs typeface="Calibri"/>
              </a:rPr>
              <a:t>season</a:t>
            </a:r>
            <a:r>
              <a:rPr sz="3000" spc="4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48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year,</a:t>
            </a:r>
            <a:r>
              <a:rPr sz="3000" spc="48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4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decision</a:t>
            </a:r>
            <a:r>
              <a:rPr sz="3000" spc="4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5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4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4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have</a:t>
            </a:r>
            <a:r>
              <a:rPr sz="3000" spc="48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two</a:t>
            </a:r>
            <a:r>
              <a:rPr sz="3000" spc="49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crop </a:t>
            </a:r>
            <a:r>
              <a:rPr sz="3000" dirty="0">
                <a:latin typeface="Calibri"/>
                <a:cs typeface="Calibri"/>
              </a:rPr>
              <a:t>seasons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year.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There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had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two</a:t>
            </a:r>
            <a:r>
              <a:rPr sz="3000" spc="7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monsoons”</a:t>
            </a:r>
            <a:r>
              <a:rPr sz="3000" spc="7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7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year.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1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would</a:t>
            </a:r>
            <a:r>
              <a:rPr sz="3000" spc="1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1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“</a:t>
            </a:r>
            <a:r>
              <a:rPr sz="3000" i="1" dirty="0">
                <a:latin typeface="Calibri"/>
                <a:cs typeface="Calibri"/>
              </a:rPr>
              <a:t>natural</a:t>
            </a:r>
            <a:r>
              <a:rPr sz="3000" i="1" spc="14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monsoon</a:t>
            </a:r>
            <a:r>
              <a:rPr sz="3000" dirty="0">
                <a:latin typeface="Calibri"/>
                <a:cs typeface="Calibri"/>
              </a:rPr>
              <a:t>”</a:t>
            </a:r>
            <a:r>
              <a:rPr sz="3000" spc="1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other</a:t>
            </a:r>
            <a:r>
              <a:rPr sz="3000" spc="160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an </a:t>
            </a:r>
            <a:r>
              <a:rPr sz="3000" dirty="0">
                <a:latin typeface="Calibri"/>
                <a:cs typeface="Calibri"/>
              </a:rPr>
              <a:t>“</a:t>
            </a:r>
            <a:r>
              <a:rPr sz="3000" i="1" dirty="0">
                <a:latin typeface="Calibri"/>
                <a:cs typeface="Calibri"/>
              </a:rPr>
              <a:t>artificial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monsoon</a:t>
            </a:r>
            <a:r>
              <a:rPr sz="3000" spc="-10" dirty="0">
                <a:latin typeface="Calibri"/>
                <a:cs typeface="Calibri"/>
              </a:rPr>
              <a:t>”.</a:t>
            </a:r>
            <a:endParaRPr sz="30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8900"/>
              </a:lnSpc>
              <a:spcBef>
                <a:spcPts val="80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i="1" dirty="0">
                <a:latin typeface="Calibri"/>
                <a:cs typeface="Calibri"/>
              </a:rPr>
              <a:t>Using</a:t>
            </a:r>
            <a:r>
              <a:rPr sz="3000" b="1" i="1" spc="459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seeds</a:t>
            </a:r>
            <a:r>
              <a:rPr sz="3000" b="1" i="1" spc="47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with</a:t>
            </a:r>
            <a:r>
              <a:rPr sz="3000" b="1" i="1" spc="47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superior</a:t>
            </a:r>
            <a:r>
              <a:rPr sz="3000" b="1" i="1" spc="48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genetics:</a:t>
            </a:r>
            <a:r>
              <a:rPr sz="3000" b="1" i="1" spc="4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4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48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4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scientific </a:t>
            </a:r>
            <a:r>
              <a:rPr sz="3000" dirty="0">
                <a:latin typeface="Calibri"/>
                <a:cs typeface="Calibri"/>
              </a:rPr>
              <a:t>aspect</a:t>
            </a:r>
            <a:r>
              <a:rPr sz="3000" spc="3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Green</a:t>
            </a:r>
            <a:r>
              <a:rPr sz="3000" spc="3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Revolution</a:t>
            </a:r>
            <a:r>
              <a:rPr sz="3000" spc="3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3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3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</a:t>
            </a:r>
            <a:r>
              <a:rPr sz="3000" spc="3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Yielding</a:t>
            </a:r>
            <a:r>
              <a:rPr sz="3000" spc="3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Variety </a:t>
            </a:r>
            <a:r>
              <a:rPr sz="3000" dirty="0">
                <a:latin typeface="Calibri"/>
                <a:cs typeface="Calibri"/>
              </a:rPr>
              <a:t>(HVY)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seeds.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E0018-2A67-2223-622A-2934F1B5871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980" y="185420"/>
            <a:ext cx="60947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Effects</a:t>
            </a:r>
            <a:r>
              <a:rPr sz="4400" spc="-150" dirty="0"/>
              <a:t> </a:t>
            </a:r>
            <a:r>
              <a:rPr sz="4400" dirty="0"/>
              <a:t>of</a:t>
            </a:r>
            <a:r>
              <a:rPr sz="4400" spc="-110" dirty="0"/>
              <a:t> </a:t>
            </a:r>
            <a:r>
              <a:rPr sz="4400" dirty="0"/>
              <a:t>green</a:t>
            </a:r>
            <a:r>
              <a:rPr sz="4400" spc="-114" dirty="0"/>
              <a:t> </a:t>
            </a:r>
            <a:r>
              <a:rPr sz="4400" spc="-20" dirty="0"/>
              <a:t>revolution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299459" y="1056259"/>
            <a:ext cx="5789295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Increase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Production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Capitalistic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Farming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25" dirty="0">
                <a:latin typeface="Calibri"/>
                <a:cs typeface="Calibri"/>
              </a:rPr>
              <a:t>Effect</a:t>
            </a:r>
            <a:r>
              <a:rPr sz="3000" spc="-1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Rural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Employment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Reduction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Imports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food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grains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Development</a:t>
            </a:r>
            <a:r>
              <a:rPr sz="3000" spc="-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Industries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25" dirty="0">
                <a:latin typeface="Calibri"/>
                <a:cs typeface="Calibri"/>
              </a:rPr>
              <a:t>Effect</a:t>
            </a:r>
            <a:r>
              <a:rPr sz="3000" spc="-1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Prices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Base</a:t>
            </a:r>
            <a:r>
              <a:rPr sz="3000" spc="-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Economic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Growth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25" dirty="0">
                <a:latin typeface="Calibri"/>
                <a:cs typeface="Calibri"/>
              </a:rPr>
              <a:t>Effect</a:t>
            </a:r>
            <a:r>
              <a:rPr sz="3000" spc="-1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consumers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25" dirty="0">
                <a:latin typeface="Calibri"/>
                <a:cs typeface="Calibri"/>
              </a:rPr>
              <a:t>Effect</a:t>
            </a:r>
            <a:r>
              <a:rPr sz="3000" spc="-1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Planning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Increase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Trade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Change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Thinking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Farmers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FAA6D-BE69-50DF-63C4-6F5E911FAEB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2468" rIns="0" bIns="0" rtlCol="0">
            <a:spAutoFit/>
          </a:bodyPr>
          <a:lstStyle/>
          <a:p>
            <a:pPr marL="29305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Limitation</a:t>
            </a:r>
            <a:r>
              <a:rPr spc="-15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10" dirty="0"/>
              <a:t>green</a:t>
            </a:r>
            <a:r>
              <a:rPr spc="-165" dirty="0"/>
              <a:t> </a:t>
            </a:r>
            <a:r>
              <a:rPr spc="-10" dirty="0"/>
              <a:t>revolution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147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71475" algn="l"/>
              </a:tabLst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Green</a:t>
            </a:r>
            <a:r>
              <a:rPr spc="-50" dirty="0"/>
              <a:t> </a:t>
            </a:r>
            <a:r>
              <a:rPr spc="-10" dirty="0"/>
              <a:t>Revolution,</a:t>
            </a:r>
            <a:r>
              <a:rPr spc="-85" dirty="0"/>
              <a:t> </a:t>
            </a:r>
            <a:r>
              <a:rPr dirty="0"/>
              <a:t>howsoever</a:t>
            </a:r>
            <a:r>
              <a:rPr spc="-70" dirty="0"/>
              <a:t> </a:t>
            </a:r>
            <a:r>
              <a:rPr dirty="0"/>
              <a:t>impressive,</a:t>
            </a:r>
            <a:r>
              <a:rPr spc="-70" dirty="0"/>
              <a:t> </a:t>
            </a:r>
            <a:r>
              <a:rPr dirty="0"/>
              <a:t>but</a:t>
            </a:r>
            <a:r>
              <a:rPr spc="-6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100%</a:t>
            </a:r>
            <a:r>
              <a:rPr spc="-25" dirty="0"/>
              <a:t> </a:t>
            </a:r>
            <a:r>
              <a:rPr spc="-10" dirty="0"/>
              <a:t>success.</a:t>
            </a:r>
          </a:p>
          <a:p>
            <a:pPr marL="372110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72110" algn="l"/>
                <a:tab pos="1710689" algn="l"/>
                <a:tab pos="2703830" algn="l"/>
                <a:tab pos="3945890" algn="l"/>
                <a:tab pos="5064125" algn="l"/>
                <a:tab pos="5770245" algn="l"/>
                <a:tab pos="1037336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new</a:t>
            </a:r>
            <a:r>
              <a:rPr spc="-60" dirty="0"/>
              <a:t> </a:t>
            </a:r>
            <a:r>
              <a:rPr dirty="0"/>
              <a:t>farming</a:t>
            </a:r>
            <a:r>
              <a:rPr spc="-55" dirty="0"/>
              <a:t> </a:t>
            </a:r>
            <a:r>
              <a:rPr dirty="0"/>
              <a:t>techniques,</a:t>
            </a:r>
            <a:r>
              <a:rPr spc="-40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dirty="0"/>
              <a:t>given</a:t>
            </a:r>
            <a:r>
              <a:rPr spc="-30" dirty="0"/>
              <a:t> </a:t>
            </a:r>
            <a:r>
              <a:rPr dirty="0"/>
              <a:t>birth</a:t>
            </a:r>
            <a:r>
              <a:rPr spc="-5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serious</a:t>
            </a:r>
            <a:r>
              <a:rPr spc="-50" dirty="0"/>
              <a:t> </a:t>
            </a:r>
            <a:r>
              <a:rPr spc="-10" dirty="0"/>
              <a:t>pollution</a:t>
            </a:r>
            <a:r>
              <a:rPr dirty="0"/>
              <a:t>	</a:t>
            </a:r>
            <a:r>
              <a:rPr spc="-25" dirty="0"/>
              <a:t>of </a:t>
            </a:r>
            <a:r>
              <a:rPr spc="-10" dirty="0"/>
              <a:t>drinking</a:t>
            </a:r>
            <a:r>
              <a:rPr dirty="0"/>
              <a:t>	</a:t>
            </a:r>
            <a:r>
              <a:rPr spc="-20" dirty="0"/>
              <a:t>water</a:t>
            </a:r>
            <a:r>
              <a:rPr dirty="0"/>
              <a:t>	</a:t>
            </a:r>
            <a:r>
              <a:rPr spc="-10" dirty="0"/>
              <a:t>causing</a:t>
            </a:r>
            <a:r>
              <a:rPr dirty="0"/>
              <a:t>	</a:t>
            </a:r>
            <a:r>
              <a:rPr spc="-10" dirty="0"/>
              <a:t>cancer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other</a:t>
            </a:r>
            <a:r>
              <a:rPr spc="-40" dirty="0"/>
              <a:t> </a:t>
            </a:r>
            <a:r>
              <a:rPr spc="-10" dirty="0"/>
              <a:t>diseases.</a:t>
            </a:r>
          </a:p>
          <a:p>
            <a:pPr marL="372110" marR="5080" indent="-3429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72110" algn="l"/>
                <a:tab pos="1885950" algn="l"/>
                <a:tab pos="3219450" algn="l"/>
                <a:tab pos="4921885" algn="l"/>
                <a:tab pos="5963285" algn="l"/>
                <a:tab pos="7068184" algn="l"/>
                <a:tab pos="7492365" algn="l"/>
                <a:tab pos="8366759" algn="l"/>
                <a:tab pos="9194800" algn="l"/>
              </a:tabLst>
            </a:pPr>
            <a:r>
              <a:rPr dirty="0"/>
              <a:t>A</a:t>
            </a:r>
            <a:r>
              <a:rPr spc="345" dirty="0"/>
              <a:t> </a:t>
            </a:r>
            <a:r>
              <a:rPr spc="-10" dirty="0"/>
              <a:t>recent</a:t>
            </a:r>
            <a:r>
              <a:rPr dirty="0"/>
              <a:t>	</a:t>
            </a:r>
            <a:r>
              <a:rPr spc="-10" dirty="0"/>
              <a:t>Punjabi</a:t>
            </a:r>
            <a:r>
              <a:rPr dirty="0"/>
              <a:t>	</a:t>
            </a:r>
            <a:r>
              <a:rPr spc="-10" dirty="0"/>
              <a:t>University</a:t>
            </a:r>
            <a:r>
              <a:rPr dirty="0"/>
              <a:t>	</a:t>
            </a:r>
            <a:r>
              <a:rPr spc="-10" dirty="0"/>
              <a:t>study</a:t>
            </a:r>
            <a:r>
              <a:rPr dirty="0"/>
              <a:t>	</a:t>
            </a:r>
            <a:r>
              <a:rPr spc="-10" dirty="0"/>
              <a:t>found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20" dirty="0"/>
              <a:t>high</a:t>
            </a:r>
            <a:r>
              <a:rPr dirty="0"/>
              <a:t>	</a:t>
            </a:r>
            <a:r>
              <a:rPr spc="-20" dirty="0"/>
              <a:t>rate</a:t>
            </a:r>
            <a:r>
              <a:rPr dirty="0"/>
              <a:t>	of</a:t>
            </a:r>
            <a:r>
              <a:rPr spc="345" dirty="0"/>
              <a:t> </a:t>
            </a:r>
            <a:r>
              <a:rPr spc="-10" dirty="0"/>
              <a:t>genetic </a:t>
            </a:r>
            <a:r>
              <a:rPr dirty="0"/>
              <a:t>diseases</a:t>
            </a:r>
            <a:r>
              <a:rPr spc="-80" dirty="0"/>
              <a:t> </a:t>
            </a:r>
            <a:r>
              <a:rPr dirty="0"/>
              <a:t>among</a:t>
            </a:r>
            <a:r>
              <a:rPr spc="-75" dirty="0"/>
              <a:t> </a:t>
            </a:r>
            <a:r>
              <a:rPr dirty="0"/>
              <a:t>farmers,</a:t>
            </a:r>
            <a:r>
              <a:rPr spc="-95" dirty="0"/>
              <a:t> </a:t>
            </a:r>
            <a:r>
              <a:rPr dirty="0"/>
              <a:t>which</a:t>
            </a:r>
            <a:r>
              <a:rPr spc="-65" dirty="0"/>
              <a:t> </a:t>
            </a:r>
            <a:r>
              <a:rPr dirty="0"/>
              <a:t>was</a:t>
            </a:r>
            <a:r>
              <a:rPr spc="-40" dirty="0"/>
              <a:t> </a:t>
            </a:r>
            <a:r>
              <a:rPr dirty="0"/>
              <a:t>attributed</a:t>
            </a:r>
            <a:r>
              <a:rPr spc="-8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pesticide</a:t>
            </a:r>
            <a:r>
              <a:rPr spc="-85" dirty="0"/>
              <a:t> </a:t>
            </a:r>
            <a:r>
              <a:rPr spc="-20" dirty="0"/>
              <a:t>use.</a:t>
            </a:r>
          </a:p>
          <a:p>
            <a:pPr marL="372110" marR="6985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72110" algn="l"/>
                <a:tab pos="1136015" algn="l"/>
                <a:tab pos="1977389" algn="l"/>
                <a:tab pos="3526790" algn="l"/>
                <a:tab pos="5005705" algn="l"/>
                <a:tab pos="6664325" algn="l"/>
                <a:tab pos="7436484" algn="l"/>
                <a:tab pos="908050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25" dirty="0"/>
              <a:t>new</a:t>
            </a:r>
            <a:r>
              <a:rPr dirty="0"/>
              <a:t>	</a:t>
            </a:r>
            <a:r>
              <a:rPr spc="-10" dirty="0"/>
              <a:t>inorganic</a:t>
            </a:r>
            <a:r>
              <a:rPr dirty="0"/>
              <a:t>	</a:t>
            </a:r>
            <a:r>
              <a:rPr spc="-10" dirty="0"/>
              <a:t>fertilizer,</a:t>
            </a:r>
            <a:r>
              <a:rPr dirty="0"/>
              <a:t>	</a:t>
            </a:r>
            <a:r>
              <a:rPr spc="-10" dirty="0"/>
              <a:t>pesticides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chemicals</a:t>
            </a:r>
            <a:r>
              <a:rPr dirty="0"/>
              <a:t>	are</a:t>
            </a:r>
            <a:r>
              <a:rPr spc="180" dirty="0"/>
              <a:t> </a:t>
            </a:r>
            <a:r>
              <a:rPr spc="-10" dirty="0"/>
              <a:t>ruining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soil.</a:t>
            </a:r>
          </a:p>
          <a:p>
            <a:pPr marL="37147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71475" algn="l"/>
              </a:tabLst>
            </a:pPr>
            <a:r>
              <a:rPr dirty="0"/>
              <a:t>Lead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unemployment</a:t>
            </a:r>
            <a:r>
              <a:rPr spc="-8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25" dirty="0"/>
              <a:t>Rural-</a:t>
            </a:r>
            <a:r>
              <a:rPr dirty="0"/>
              <a:t>Urban</a:t>
            </a:r>
            <a:r>
              <a:rPr spc="-25" dirty="0"/>
              <a:t> </a:t>
            </a:r>
            <a:r>
              <a:rPr spc="-10" dirty="0"/>
              <a:t>Immigration.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2FC1E-1A6F-F3EA-0545-812DA49160E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934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 MT</vt:lpstr>
      <vt:lpstr>Calibri</vt:lpstr>
      <vt:lpstr>Times New Roman</vt:lpstr>
      <vt:lpstr>Wingdings</vt:lpstr>
      <vt:lpstr>Office Theme</vt:lpstr>
      <vt:lpstr>GREEN REVOLUTION</vt:lpstr>
      <vt:lpstr>History of Green Revolution</vt:lpstr>
      <vt:lpstr>History of Green Revolution</vt:lpstr>
      <vt:lpstr>History of Green Revolution</vt:lpstr>
      <vt:lpstr>William S. Gaud</vt:lpstr>
      <vt:lpstr>PowerPoint Presentation</vt:lpstr>
      <vt:lpstr>History of Green Revolution</vt:lpstr>
      <vt:lpstr>Norman Borlaug (March 25, 1914 –September 12, 2009)</vt:lpstr>
      <vt:lpstr>Methods used in green revolution</vt:lpstr>
      <vt:lpstr>Causes of green revolution</vt:lpstr>
      <vt:lpstr>Basic elements used methods of green revolution</vt:lpstr>
      <vt:lpstr>Effects of green revolution</vt:lpstr>
      <vt:lpstr>Limitation of green revolution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Marjorie Disor-Hoylar</cp:lastModifiedBy>
  <cp:revision>2</cp:revision>
  <dcterms:created xsi:type="dcterms:W3CDTF">2025-11-19T02:49:00Z</dcterms:created>
  <dcterms:modified xsi:type="dcterms:W3CDTF">2025-11-19T03:29:27Z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for Microsoft 365</vt:lpwstr>
  </property>
</Properties>
</file>